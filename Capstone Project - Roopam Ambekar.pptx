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7C222A"/>
    <a:srgbClr val="EE8239"/>
    <a:srgbClr val="FFF5E6"/>
    <a:srgbClr val="ED7D31"/>
    <a:srgbClr val="172C51"/>
    <a:srgbClr val="862F36"/>
    <a:srgbClr val="F9A7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817" autoAdjust="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18394-4317-9219-C791-547940B27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9F722B-095A-B7A9-9086-0F41E3975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5BACB-461D-CDC6-179A-DE05F604F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5EB7-E718-4733-8141-4B375C4F80E5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6604E-2EF1-0E65-9DAF-E333A364F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68D28-880E-2ED8-B1FA-2DAB2221E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D89D-0B2C-4819-A813-CC2E86DC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0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1E78F-FC80-8DDF-051D-612504682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96B8F-4E59-93B3-B463-9CDD2DF6B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9DC75-008A-391F-2138-D88237ED5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5EB7-E718-4733-8141-4B375C4F80E5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0FF9E-2985-2CE0-0591-832B4368A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5DDB1-A030-7C0A-B346-094B47701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D89D-0B2C-4819-A813-CC2E86DC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52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8BCDB-91AD-EA98-C83A-03EFC69E8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67189-ED0F-0966-78D8-7117B3A4E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0F20B-46FC-B6DF-E1B1-A6E36C506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5EB7-E718-4733-8141-4B375C4F80E5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5BC0E-6032-34C7-D491-7099C47B0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16080-79B5-0060-FB66-8F29B177E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D89D-0B2C-4819-A813-CC2E86DC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2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63980-1C14-E4D6-9DAD-44BEC6D83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841FB-C1C4-77E6-6D29-626731B628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50320-9851-403E-E19E-A463FC01F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D4B22-6E39-3B71-EA0E-C672DAE58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5EB7-E718-4733-8141-4B375C4F80E5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5A3BC-005D-2360-D9E6-C2779D497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EAFE1-544F-D3BE-4846-BC3637A32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D89D-0B2C-4819-A813-CC2E86DC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685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8F17-718D-B25F-8FEF-E0597F1B0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2117F-D69C-E7C9-4A59-619A42AE2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4CF5C7-E2A8-B69B-4DC7-22AC80196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F7991A-04DF-9EAC-0727-718FA30FD9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65551E-66F1-72CF-A470-DCEC2F827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694A1A-FEAC-A2CA-BAC5-5B9DBC49D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5EB7-E718-4733-8141-4B375C4F80E5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8C1A8B-60C2-8CBF-B179-2ED9D2A10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A0BF7-8073-06F5-6BFE-3272C00DC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D89D-0B2C-4819-A813-CC2E86DC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324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0E00-2620-ED34-7F19-069A33BBF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813FEF-135E-867F-3F34-7BDF2EBEB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5EB7-E718-4733-8141-4B375C4F80E5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4423E4-334D-0E9F-102B-C1741F1D0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363341-C047-37E1-F02A-6FC654DFF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D89D-0B2C-4819-A813-CC2E86DC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06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A8076-31A7-E119-8C47-AB7A28937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5EB7-E718-4733-8141-4B375C4F80E5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25659E-7837-B4E7-6A91-C1F4A4770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277BF-0A08-571B-06D8-F096EC30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D89D-0B2C-4819-A813-CC2E86DC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06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718F5-AE61-4544-68D8-6C27457F7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B135F-1175-CB62-F7C5-907997D71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DC744-EE47-3EA7-AB50-DE3B926DB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47872-1CFE-847B-9C1B-01CF9B9FE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5EB7-E718-4733-8141-4B375C4F80E5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54FA2-3A81-B9C2-FC87-D0A5AE0DA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B7460-B29B-7F63-9D9F-7E6AB8A4A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D89D-0B2C-4819-A813-CC2E86DC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420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18377-96DA-939B-C3B6-1C7DDE7F6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07DEE5-260C-BFFB-7B70-5129A1A35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6FFA6-51FD-0825-BC62-02690D469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BD6A3-F4C5-FB5E-D9DB-6129C5AD3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5EB7-E718-4733-8141-4B375C4F80E5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BD787-A1BF-DE51-3E06-D1F7324A0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1E601-82D5-279A-11B8-8FB96F405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D89D-0B2C-4819-A813-CC2E86DC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98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8AF58-1DF8-7E1C-3804-511DA5AB5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A2793-3404-1C4D-79CF-FB0D0EA885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84EFA-6965-45E8-BE77-D0C86984D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5EB7-E718-4733-8141-4B375C4F80E5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02977-BD82-E3AB-77FB-A4F430317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00E74-24A2-7DBD-F279-4C3DB381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D89D-0B2C-4819-A813-CC2E86DC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180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B1121B-4B93-86D7-C48C-41DF6C96D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9A9FE-9E9C-04B8-4C74-DEB8572AD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81534-2402-C563-FA8B-595BF2423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5EB7-E718-4733-8141-4B375C4F80E5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78C21-AF19-E9BB-BD81-A1D12D219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D333C-F84C-45A8-5C2A-7C995253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D89D-0B2C-4819-A813-CC2E86DC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337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1FA835-91AE-D6BD-466A-6C7E3A325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E7E4-83D9-9C88-6112-883E0BB23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BEF69-E7DD-D4A9-C8AE-6EFC93F5E3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D5EB7-E718-4733-8141-4B375C4F80E5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B7755-D815-1F4D-DEA4-DA5C16417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1F86A-7B7C-F822-C593-8E02BB206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D89D-0B2C-4819-A813-CC2E86DC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109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fmendes/fmendesdat263xdemos" TargetMode="External"/><Relationship Id="rId2" Type="http://schemas.openxmlformats.org/officeDocument/2006/relationships/hyperlink" Target="https://github.com/Roopam-Ambekar/IIT_Roorkee_CloudxLab_-Capstone_Project_Calories_Burned_Predic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97BC0FC-2992-0893-FC30-BDB153075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325" y="1309127"/>
            <a:ext cx="4282505" cy="409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ED4BC2-5570-567B-51F9-2136AE462766}"/>
              </a:ext>
            </a:extLst>
          </p:cNvPr>
          <p:cNvSpPr txBox="1"/>
          <p:nvPr/>
        </p:nvSpPr>
        <p:spPr>
          <a:xfrm>
            <a:off x="205170" y="846930"/>
            <a:ext cx="6096000" cy="2308324"/>
          </a:xfrm>
          <a:prstGeom prst="flowChartProcess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0" spc="-165" dirty="0">
                <a:solidFill>
                  <a:srgbClr val="862F36"/>
                </a:solidFill>
                <a:latin typeface="Gotham Bold" pitchFamily="50" charset="0"/>
                <a:cs typeface="Arial Black"/>
              </a:rPr>
              <a:t>Machine</a:t>
            </a:r>
            <a:r>
              <a:rPr lang="en-US" sz="4800" b="0" spc="-355" dirty="0">
                <a:solidFill>
                  <a:srgbClr val="862F36"/>
                </a:solidFill>
                <a:latin typeface="Gotham Bold" pitchFamily="50" charset="0"/>
                <a:cs typeface="Arial Black"/>
              </a:rPr>
              <a:t> </a:t>
            </a:r>
            <a:r>
              <a:rPr lang="en-US" sz="4800" b="0" spc="-145" dirty="0">
                <a:solidFill>
                  <a:srgbClr val="862F36"/>
                </a:solidFill>
                <a:latin typeface="Gotham Bold" pitchFamily="50" charset="0"/>
                <a:cs typeface="Arial Black"/>
              </a:rPr>
              <a:t>Learning</a:t>
            </a:r>
            <a:r>
              <a:rPr lang="en-US" sz="4800" b="0" spc="-335" dirty="0">
                <a:solidFill>
                  <a:srgbClr val="862F36"/>
                </a:solidFill>
                <a:latin typeface="Gotham Bold" pitchFamily="50" charset="0"/>
                <a:cs typeface="Arial Black"/>
              </a:rPr>
              <a:t> </a:t>
            </a:r>
            <a:r>
              <a:rPr lang="en-US" sz="4800" b="0" spc="-114" dirty="0">
                <a:solidFill>
                  <a:srgbClr val="862F36"/>
                </a:solidFill>
                <a:latin typeface="Gotham Bold" pitchFamily="50" charset="0"/>
                <a:cs typeface="Arial Black"/>
              </a:rPr>
              <a:t>Model</a:t>
            </a:r>
            <a:r>
              <a:rPr lang="en-US" sz="4800" b="0" spc="-330" dirty="0">
                <a:solidFill>
                  <a:srgbClr val="862F36"/>
                </a:solidFill>
                <a:latin typeface="Gotham Bold" pitchFamily="50" charset="0"/>
                <a:cs typeface="Arial Black"/>
              </a:rPr>
              <a:t> </a:t>
            </a:r>
            <a:r>
              <a:rPr lang="en-US" sz="4800" b="0" spc="-25" dirty="0">
                <a:solidFill>
                  <a:srgbClr val="862F36"/>
                </a:solidFill>
                <a:latin typeface="Gotham Bold" pitchFamily="50" charset="0"/>
                <a:cs typeface="Arial Black"/>
              </a:rPr>
              <a:t>On </a:t>
            </a:r>
            <a:r>
              <a:rPr lang="en-US" sz="4800" b="0" spc="-260" dirty="0">
                <a:solidFill>
                  <a:srgbClr val="862F36"/>
                </a:solidFill>
                <a:latin typeface="Gotham Bold" pitchFamily="50" charset="0"/>
                <a:cs typeface="Arial Black"/>
              </a:rPr>
              <a:t>Calories Burned Prediction</a:t>
            </a:r>
            <a:endParaRPr lang="en-US" sz="4800" dirty="0">
              <a:solidFill>
                <a:srgbClr val="862F36"/>
              </a:solidFill>
              <a:latin typeface="Gotham Bold" pitchFamily="50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67C61-33D1-A23F-877F-55796FF5DE2C}"/>
              </a:ext>
            </a:extLst>
          </p:cNvPr>
          <p:cNvSpPr txBox="1"/>
          <p:nvPr/>
        </p:nvSpPr>
        <p:spPr>
          <a:xfrm>
            <a:off x="412467" y="4767209"/>
            <a:ext cx="3113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By : Roopam Ambekar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980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BBB972E-0A47-A2C7-7FA6-CCB81F4E57F4}"/>
              </a:ext>
            </a:extLst>
          </p:cNvPr>
          <p:cNvCxnSpPr>
            <a:cxnSpLocks/>
          </p:cNvCxnSpPr>
          <p:nvPr/>
        </p:nvCxnSpPr>
        <p:spPr>
          <a:xfrm>
            <a:off x="0" y="869577"/>
            <a:ext cx="12192000" cy="0"/>
          </a:xfrm>
          <a:prstGeom prst="line">
            <a:avLst/>
          </a:prstGeom>
          <a:ln w="19050">
            <a:solidFill>
              <a:srgbClr val="862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D70778A0-DFCF-F01E-3745-C1DCCFD70E91}"/>
              </a:ext>
            </a:extLst>
          </p:cNvPr>
          <p:cNvSpPr/>
          <p:nvPr/>
        </p:nvSpPr>
        <p:spPr>
          <a:xfrm>
            <a:off x="161368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Gotham Book" pitchFamily="50" charset="0"/>
                <a:cs typeface="Gotham Book" pitchFamily="50" charset="0"/>
              </a:rPr>
              <a:t>Objective</a:t>
            </a:r>
            <a:endParaRPr lang="en-US" dirty="0"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2B6ED3-190B-12DD-AA1F-DA09AC853161}"/>
              </a:ext>
            </a:extLst>
          </p:cNvPr>
          <p:cNvSpPr/>
          <p:nvPr/>
        </p:nvSpPr>
        <p:spPr>
          <a:xfrm>
            <a:off x="2192770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Approach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A35D3C3D-6C0B-D479-5D02-9A9E94B15391}"/>
              </a:ext>
            </a:extLst>
          </p:cNvPr>
          <p:cNvSpPr/>
          <p:nvPr/>
        </p:nvSpPr>
        <p:spPr>
          <a:xfrm>
            <a:off x="10318377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Reference &amp; Comments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B3685252-E956-0C23-085D-69135B50324D}"/>
              </a:ext>
            </a:extLst>
          </p:cNvPr>
          <p:cNvSpPr/>
          <p:nvPr/>
        </p:nvSpPr>
        <p:spPr>
          <a:xfrm>
            <a:off x="4224172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Model Summary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3E377994-43DA-0083-2698-3AFFC7C72E70}"/>
              </a:ext>
            </a:extLst>
          </p:cNvPr>
          <p:cNvSpPr/>
          <p:nvPr/>
        </p:nvSpPr>
        <p:spPr>
          <a:xfrm>
            <a:off x="6239829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Results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809696D8-8ED8-A77F-60A2-EE6425E185EF}"/>
              </a:ext>
            </a:extLst>
          </p:cNvPr>
          <p:cNvSpPr/>
          <p:nvPr/>
        </p:nvSpPr>
        <p:spPr>
          <a:xfrm>
            <a:off x="8286973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Inference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3" name="Rectangle: Diagonal Corners Snipped 12">
            <a:extLst>
              <a:ext uri="{FF2B5EF4-FFF2-40B4-BE49-F238E27FC236}">
                <a16:creationId xmlns:a16="http://schemas.microsoft.com/office/drawing/2014/main" id="{A1D3C3A1-AFD5-563E-BA9F-6E8F03BEF78C}"/>
              </a:ext>
            </a:extLst>
          </p:cNvPr>
          <p:cNvSpPr/>
          <p:nvPr/>
        </p:nvSpPr>
        <p:spPr>
          <a:xfrm>
            <a:off x="373641" y="1331259"/>
            <a:ext cx="3177190" cy="345139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 Book" pitchFamily="50" charset="0"/>
                <a:cs typeface="Gotham Book" pitchFamily="50" charset="0"/>
              </a:rPr>
              <a:t>Problem Statement</a:t>
            </a:r>
            <a:endParaRPr lang="en-US" sz="1200" dirty="0"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4" name="Rectangle: Diagonal Corners Snipped 13">
            <a:extLst>
              <a:ext uri="{FF2B5EF4-FFF2-40B4-BE49-F238E27FC236}">
                <a16:creationId xmlns:a16="http://schemas.microsoft.com/office/drawing/2014/main" id="{19D34A8E-1DC4-5F0D-8E9C-A53A7B1B36C4}"/>
              </a:ext>
            </a:extLst>
          </p:cNvPr>
          <p:cNvSpPr/>
          <p:nvPr/>
        </p:nvSpPr>
        <p:spPr>
          <a:xfrm>
            <a:off x="4568345" y="1331259"/>
            <a:ext cx="3177190" cy="345139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 Book" pitchFamily="50" charset="0"/>
                <a:cs typeface="Gotham Book" pitchFamily="50" charset="0"/>
              </a:rPr>
              <a:t>Stakeholders</a:t>
            </a:r>
            <a:endParaRPr lang="en-US" sz="1200" dirty="0"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94A272AB-9B84-97C3-EFBE-EFFE594577E9}"/>
              </a:ext>
            </a:extLst>
          </p:cNvPr>
          <p:cNvSpPr/>
          <p:nvPr/>
        </p:nvSpPr>
        <p:spPr>
          <a:xfrm>
            <a:off x="8763049" y="1331259"/>
            <a:ext cx="3177190" cy="345139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 Book" pitchFamily="50" charset="0"/>
                <a:cs typeface="Gotham Book" pitchFamily="50" charset="0"/>
              </a:rPr>
              <a:t>Business Use Case</a:t>
            </a:r>
            <a:endParaRPr lang="en-US" sz="1200" dirty="0"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6" name="Rectangle: Diagonal Corners Snipped 15">
            <a:extLst>
              <a:ext uri="{FF2B5EF4-FFF2-40B4-BE49-F238E27FC236}">
                <a16:creationId xmlns:a16="http://schemas.microsoft.com/office/drawing/2014/main" id="{1BFC68E1-553B-F5B5-67CD-A55C4C3FF625}"/>
              </a:ext>
            </a:extLst>
          </p:cNvPr>
          <p:cNvSpPr/>
          <p:nvPr/>
        </p:nvSpPr>
        <p:spPr>
          <a:xfrm>
            <a:off x="267505" y="2017059"/>
            <a:ext cx="3389465" cy="4329945"/>
          </a:xfrm>
          <a:prstGeom prst="snip2DiagRect">
            <a:avLst>
              <a:gd name="adj1" fmla="val 0"/>
              <a:gd name="adj2" fmla="val 5294"/>
            </a:avLst>
          </a:prstGeom>
          <a:noFill/>
          <a:ln w="19050">
            <a:solidFill>
              <a:srgbClr val="862F3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Predict the number of calories burned during physical activities based on individual and activity-related features.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The model is a regression problem and uses features like: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Gender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Age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Height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Weight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Duration of exercise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Heart rate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Body temperature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The goal is to provide an accurate calorie burn estimate using machine learning.</a:t>
            </a:r>
          </a:p>
        </p:txBody>
      </p:sp>
      <p:sp>
        <p:nvSpPr>
          <p:cNvPr id="17" name="Rectangle: Diagonal Corners Snipped 16">
            <a:extLst>
              <a:ext uri="{FF2B5EF4-FFF2-40B4-BE49-F238E27FC236}">
                <a16:creationId xmlns:a16="http://schemas.microsoft.com/office/drawing/2014/main" id="{C4A2B281-233D-8642-4B58-84EAB0F42980}"/>
              </a:ext>
            </a:extLst>
          </p:cNvPr>
          <p:cNvSpPr/>
          <p:nvPr/>
        </p:nvSpPr>
        <p:spPr>
          <a:xfrm>
            <a:off x="4462208" y="2017059"/>
            <a:ext cx="3389465" cy="4329945"/>
          </a:xfrm>
          <a:prstGeom prst="snip2DiagRect">
            <a:avLst>
              <a:gd name="adj1" fmla="val 0"/>
              <a:gd name="adj2" fmla="val 5294"/>
            </a:avLst>
          </a:prstGeom>
          <a:noFill/>
          <a:ln w="19050">
            <a:solidFill>
              <a:srgbClr val="862F3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Healthcare &amp; Fitness Companies</a:t>
            </a: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: Interested in personalized fitness plans.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Gyms &amp; Personal Trainers:</a:t>
            </a: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 To optimize client routines based on calorie expenditure.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Wearable Tech Manufacturers:</a:t>
            </a: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 For real-time calorie tracking and analytics.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End Users / Individuals:</a:t>
            </a: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 For health monitoring and weight management.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Nutritionists &amp; Dietitians:</a:t>
            </a: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 For tailoring diet plans based on activity data.</a:t>
            </a:r>
          </a:p>
        </p:txBody>
      </p:sp>
      <p:sp>
        <p:nvSpPr>
          <p:cNvPr id="18" name="Rectangle: Diagonal Corners Snipped 17">
            <a:extLst>
              <a:ext uri="{FF2B5EF4-FFF2-40B4-BE49-F238E27FC236}">
                <a16:creationId xmlns:a16="http://schemas.microsoft.com/office/drawing/2014/main" id="{ADC60C7A-4BD4-87D9-97FE-D4BC86235949}"/>
              </a:ext>
            </a:extLst>
          </p:cNvPr>
          <p:cNvSpPr/>
          <p:nvPr/>
        </p:nvSpPr>
        <p:spPr>
          <a:xfrm>
            <a:off x="8656912" y="2017058"/>
            <a:ext cx="3389465" cy="4329945"/>
          </a:xfrm>
          <a:prstGeom prst="snip2DiagRect">
            <a:avLst>
              <a:gd name="adj1" fmla="val 0"/>
              <a:gd name="adj2" fmla="val 5294"/>
            </a:avLst>
          </a:prstGeom>
          <a:noFill/>
          <a:ln w="19050">
            <a:solidFill>
              <a:srgbClr val="862F3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Fitness Platforms: </a:t>
            </a: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Provide personalized workout recommendations based on predicted calorie burn.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b="1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Insurance Companies: </a:t>
            </a: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Incentivize active behavior via dynamic premiums based on exercise levels.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b="1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Health Apps: </a:t>
            </a: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Deliver accurate insights into energy expenditure to motivate healthy habits.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b="1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Wearables: </a:t>
            </a: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Improve prediction algorithms for better tracking accuracy and user trust.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BBFD73-E5A3-C0DD-649C-17A13FBE3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540" y="5673426"/>
            <a:ext cx="356235" cy="35623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2A697E3-7219-1FBA-6B38-5D21CDA29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709" y="5673426"/>
            <a:ext cx="356235" cy="35623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C90D320-C4E5-87D5-E698-A17E9D946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047" y="5673426"/>
            <a:ext cx="356235" cy="35623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BA8FAA3-C0FC-166F-4684-98CB98E03D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878" y="5673426"/>
            <a:ext cx="356235" cy="35623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DE99701-5BEE-65FD-9509-F783DDF018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2484" y="5673426"/>
            <a:ext cx="327745" cy="32774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CDA29CF-7F9B-1CC0-49F1-5529426666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2610" y="5673426"/>
            <a:ext cx="327745" cy="32774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6ED5921-4954-CBA2-AC01-45CC9CB009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42672" y="5673426"/>
            <a:ext cx="327745" cy="32774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FB9911D-4F8F-DBEB-5180-1428F05782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168" y="5673426"/>
            <a:ext cx="358947" cy="35894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0B94DD6-7AE4-393F-B51C-7F0A1290BC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4836" y="5673426"/>
            <a:ext cx="358947" cy="35894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7EFDB5E-46BF-68C8-B85C-3DA47B642A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28170" y="5673426"/>
            <a:ext cx="358947" cy="35894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CADA618-CC05-D63B-7DEF-C76B9856854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02547" y="5673426"/>
            <a:ext cx="327745" cy="32774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0BD8EFC-3240-7A61-98E0-2C1D895B34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21502" y="5673426"/>
            <a:ext cx="358947" cy="3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469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0700F-C24E-27C6-E1F8-0DEC9472E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2BDA7F-5A07-3782-6DF8-2358A906FCAE}"/>
              </a:ext>
            </a:extLst>
          </p:cNvPr>
          <p:cNvCxnSpPr>
            <a:cxnSpLocks/>
          </p:cNvCxnSpPr>
          <p:nvPr/>
        </p:nvCxnSpPr>
        <p:spPr>
          <a:xfrm>
            <a:off x="0" y="869577"/>
            <a:ext cx="12192000" cy="0"/>
          </a:xfrm>
          <a:prstGeom prst="line">
            <a:avLst/>
          </a:prstGeom>
          <a:ln w="19050">
            <a:solidFill>
              <a:srgbClr val="862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7FC2EB22-A1A0-488C-49A0-EDFB8F7BBAA1}"/>
              </a:ext>
            </a:extLst>
          </p:cNvPr>
          <p:cNvSpPr/>
          <p:nvPr/>
        </p:nvSpPr>
        <p:spPr>
          <a:xfrm>
            <a:off x="161368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Objective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16A44C21-0562-90E7-20C6-2B6C2AECB13D}"/>
              </a:ext>
            </a:extLst>
          </p:cNvPr>
          <p:cNvSpPr/>
          <p:nvPr/>
        </p:nvSpPr>
        <p:spPr>
          <a:xfrm>
            <a:off x="2192770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Gotham Book" pitchFamily="50" charset="0"/>
                <a:cs typeface="Gotham Book" pitchFamily="50" charset="0"/>
              </a:rPr>
              <a:t>Approach</a:t>
            </a:r>
            <a:endParaRPr lang="en-US" dirty="0"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2AA8D052-30FC-84EC-6FA3-FC12A00DE22B}"/>
              </a:ext>
            </a:extLst>
          </p:cNvPr>
          <p:cNvSpPr/>
          <p:nvPr/>
        </p:nvSpPr>
        <p:spPr>
          <a:xfrm>
            <a:off x="10318377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Reference &amp; Comments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944E65FA-3C79-893F-808C-31B1C4A1604D}"/>
              </a:ext>
            </a:extLst>
          </p:cNvPr>
          <p:cNvSpPr/>
          <p:nvPr/>
        </p:nvSpPr>
        <p:spPr>
          <a:xfrm>
            <a:off x="4224172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Model Summary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0FDFF965-3C5D-2FA4-36EE-33E190E8B066}"/>
              </a:ext>
            </a:extLst>
          </p:cNvPr>
          <p:cNvSpPr/>
          <p:nvPr/>
        </p:nvSpPr>
        <p:spPr>
          <a:xfrm>
            <a:off x="6239829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Results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B86866EA-3ABD-8119-A210-8ADFBB5A0AA9}"/>
              </a:ext>
            </a:extLst>
          </p:cNvPr>
          <p:cNvSpPr/>
          <p:nvPr/>
        </p:nvSpPr>
        <p:spPr>
          <a:xfrm>
            <a:off x="8286973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Inference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8215953B-C018-0CAE-9FB6-D5ECE65D9FE1}"/>
              </a:ext>
            </a:extLst>
          </p:cNvPr>
          <p:cNvSpPr/>
          <p:nvPr/>
        </p:nvSpPr>
        <p:spPr>
          <a:xfrm>
            <a:off x="373641" y="1331259"/>
            <a:ext cx="3177190" cy="345139"/>
          </a:xfrm>
          <a:prstGeom prst="homePlate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 Book" pitchFamily="50" charset="0"/>
                <a:cs typeface="Gotham Book" pitchFamily="50" charset="0"/>
              </a:rPr>
              <a:t>Data Preparation</a:t>
            </a:r>
            <a:endParaRPr lang="en-US" sz="1200" dirty="0"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CC1A1FA-83E9-4DEA-377E-B8A28610EA76}"/>
              </a:ext>
            </a:extLst>
          </p:cNvPr>
          <p:cNvSpPr/>
          <p:nvPr/>
        </p:nvSpPr>
        <p:spPr>
          <a:xfrm>
            <a:off x="4551711" y="1331259"/>
            <a:ext cx="3177190" cy="345139"/>
          </a:xfrm>
          <a:prstGeom prst="homePlate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 Book" pitchFamily="50" charset="0"/>
                <a:cs typeface="Gotham Book" pitchFamily="50" charset="0"/>
              </a:rPr>
              <a:t>Train Baseline Model</a:t>
            </a:r>
            <a:endParaRPr lang="en-US" sz="1200" dirty="0"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D5A89328-4C0E-9DD5-63BC-3AD30CFC8A64}"/>
              </a:ext>
            </a:extLst>
          </p:cNvPr>
          <p:cNvSpPr/>
          <p:nvPr/>
        </p:nvSpPr>
        <p:spPr>
          <a:xfrm>
            <a:off x="8729782" y="1331259"/>
            <a:ext cx="3177190" cy="345139"/>
          </a:xfrm>
          <a:prstGeom prst="homePlate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 Book" pitchFamily="50" charset="0"/>
                <a:cs typeface="Gotham Book" pitchFamily="50" charset="0"/>
              </a:rPr>
              <a:t>Further Models &amp; Model Evaluation</a:t>
            </a:r>
            <a:endParaRPr lang="en-US" sz="1200" dirty="0"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6" name="Rectangle: Diagonal Corners Snipped 15">
            <a:extLst>
              <a:ext uri="{FF2B5EF4-FFF2-40B4-BE49-F238E27FC236}">
                <a16:creationId xmlns:a16="http://schemas.microsoft.com/office/drawing/2014/main" id="{0B8D00DF-EF83-0C1B-C5E0-FA7E2A822528}"/>
              </a:ext>
            </a:extLst>
          </p:cNvPr>
          <p:cNvSpPr/>
          <p:nvPr/>
        </p:nvSpPr>
        <p:spPr>
          <a:xfrm>
            <a:off x="267505" y="2017059"/>
            <a:ext cx="3389465" cy="4329945"/>
          </a:xfrm>
          <a:prstGeom prst="snip2DiagRect">
            <a:avLst>
              <a:gd name="adj1" fmla="val 0"/>
              <a:gd name="adj2" fmla="val 5294"/>
            </a:avLst>
          </a:prstGeom>
          <a:noFill/>
          <a:ln w="19050">
            <a:solidFill>
              <a:srgbClr val="862F3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Preprocess the data by handling missing values, removing duplicates, and resolving any inconsistencies.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Perform univariate analysis to determine which features exhibit the strongest correlation with the target variable.</a:t>
            </a:r>
          </a:p>
        </p:txBody>
      </p:sp>
      <p:sp>
        <p:nvSpPr>
          <p:cNvPr id="17" name="Rectangle: Diagonal Corners Snipped 16">
            <a:extLst>
              <a:ext uri="{FF2B5EF4-FFF2-40B4-BE49-F238E27FC236}">
                <a16:creationId xmlns:a16="http://schemas.microsoft.com/office/drawing/2014/main" id="{93A6979A-C8E1-5BC3-9ED4-25DD2B63CCFE}"/>
              </a:ext>
            </a:extLst>
          </p:cNvPr>
          <p:cNvSpPr/>
          <p:nvPr/>
        </p:nvSpPr>
        <p:spPr>
          <a:xfrm>
            <a:off x="4462208" y="2017059"/>
            <a:ext cx="3389465" cy="4329945"/>
          </a:xfrm>
          <a:prstGeom prst="snip2DiagRect">
            <a:avLst>
              <a:gd name="adj1" fmla="val 0"/>
              <a:gd name="adj2" fmla="val 5294"/>
            </a:avLst>
          </a:prstGeom>
          <a:noFill/>
          <a:ln w="19050">
            <a:solidFill>
              <a:srgbClr val="862F3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Build a baseline linear regression model to evaluate its performance.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b="1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Build a baseline random forest model for comparison with the linear regression model.</a:t>
            </a:r>
          </a:p>
        </p:txBody>
      </p:sp>
      <p:sp>
        <p:nvSpPr>
          <p:cNvPr id="18" name="Rectangle: Diagonal Corners Snipped 17">
            <a:extLst>
              <a:ext uri="{FF2B5EF4-FFF2-40B4-BE49-F238E27FC236}">
                <a16:creationId xmlns:a16="http://schemas.microsoft.com/office/drawing/2014/main" id="{230C410C-B8B2-09EA-CBAA-E96AFAD38559}"/>
              </a:ext>
            </a:extLst>
          </p:cNvPr>
          <p:cNvSpPr/>
          <p:nvPr/>
        </p:nvSpPr>
        <p:spPr>
          <a:xfrm>
            <a:off x="8656912" y="2017058"/>
            <a:ext cx="3389465" cy="4329945"/>
          </a:xfrm>
          <a:prstGeom prst="snip2DiagRect">
            <a:avLst>
              <a:gd name="adj1" fmla="val 0"/>
              <a:gd name="adj2" fmla="val 5294"/>
            </a:avLst>
          </a:prstGeom>
          <a:noFill/>
          <a:ln w="19050">
            <a:solidFill>
              <a:srgbClr val="862F3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Build and evaluate Random Forest, Gradient Boosting, and LGBM models.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b="1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Use Grid Search CV to find the optimal hyperparameters and the best-performing model.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b="1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Make predictions using the best model.</a:t>
            </a:r>
          </a:p>
        </p:txBody>
      </p:sp>
    </p:spTree>
    <p:extLst>
      <p:ext uri="{BB962C8B-B14F-4D97-AF65-F5344CB8AC3E}">
        <p14:creationId xmlns:p14="http://schemas.microsoft.com/office/powerpoint/2010/main" val="848170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95848-11FC-3789-D915-2739D19EE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3432CA-D5F1-CA6E-E70A-FC83BCB7914A}"/>
              </a:ext>
            </a:extLst>
          </p:cNvPr>
          <p:cNvCxnSpPr>
            <a:cxnSpLocks/>
          </p:cNvCxnSpPr>
          <p:nvPr/>
        </p:nvCxnSpPr>
        <p:spPr>
          <a:xfrm>
            <a:off x="0" y="869577"/>
            <a:ext cx="12192000" cy="0"/>
          </a:xfrm>
          <a:prstGeom prst="line">
            <a:avLst/>
          </a:prstGeom>
          <a:ln w="19050">
            <a:solidFill>
              <a:srgbClr val="862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1C131DB0-23CF-5392-8348-B7CB644FD30D}"/>
              </a:ext>
            </a:extLst>
          </p:cNvPr>
          <p:cNvSpPr/>
          <p:nvPr/>
        </p:nvSpPr>
        <p:spPr>
          <a:xfrm>
            <a:off x="161368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Objective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7B0971F5-B82C-EFF6-6489-C40C3C4D5601}"/>
              </a:ext>
            </a:extLst>
          </p:cNvPr>
          <p:cNvSpPr/>
          <p:nvPr/>
        </p:nvSpPr>
        <p:spPr>
          <a:xfrm>
            <a:off x="2192770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Approach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C7A4D47C-854F-ABE9-20F0-9198BBD8E234}"/>
              </a:ext>
            </a:extLst>
          </p:cNvPr>
          <p:cNvSpPr/>
          <p:nvPr/>
        </p:nvSpPr>
        <p:spPr>
          <a:xfrm>
            <a:off x="10318377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Reference &amp; Comments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04B5B8FB-D8F5-C880-7BDD-E567F80B3415}"/>
              </a:ext>
            </a:extLst>
          </p:cNvPr>
          <p:cNvSpPr/>
          <p:nvPr/>
        </p:nvSpPr>
        <p:spPr>
          <a:xfrm>
            <a:off x="4224172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Gotham Book" pitchFamily="50" charset="0"/>
                <a:cs typeface="Gotham Book" pitchFamily="50" charset="0"/>
              </a:rPr>
              <a:t>Model Summary</a:t>
            </a:r>
            <a:endParaRPr lang="en-US" dirty="0"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6FB66F16-7708-C200-1ABF-C8943E57A9A2}"/>
              </a:ext>
            </a:extLst>
          </p:cNvPr>
          <p:cNvSpPr/>
          <p:nvPr/>
        </p:nvSpPr>
        <p:spPr>
          <a:xfrm>
            <a:off x="6239829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Results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1BCAC6CA-3E29-EF9F-A08F-E12696D49F73}"/>
              </a:ext>
            </a:extLst>
          </p:cNvPr>
          <p:cNvSpPr/>
          <p:nvPr/>
        </p:nvSpPr>
        <p:spPr>
          <a:xfrm>
            <a:off x="8286973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Inference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1DFE3D-3C6A-A1DC-CF23-79A1F698BA83}"/>
              </a:ext>
            </a:extLst>
          </p:cNvPr>
          <p:cNvCxnSpPr>
            <a:cxnSpLocks/>
          </p:cNvCxnSpPr>
          <p:nvPr/>
        </p:nvCxnSpPr>
        <p:spPr>
          <a:xfrm>
            <a:off x="122117" y="3351456"/>
            <a:ext cx="11947765" cy="0"/>
          </a:xfrm>
          <a:prstGeom prst="line">
            <a:avLst/>
          </a:prstGeom>
          <a:ln w="19050">
            <a:solidFill>
              <a:srgbClr val="862F3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object 5">
            <a:extLst>
              <a:ext uri="{FF2B5EF4-FFF2-40B4-BE49-F238E27FC236}">
                <a16:creationId xmlns:a16="http://schemas.microsoft.com/office/drawing/2014/main" id="{4B51861F-E67A-C4F8-C2C9-35271FB7A3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256035"/>
              </p:ext>
            </p:extLst>
          </p:nvPr>
        </p:nvGraphicFramePr>
        <p:xfrm>
          <a:off x="480121" y="1590005"/>
          <a:ext cx="4975184" cy="1468063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496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9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00" spc="-10" dirty="0">
                          <a:latin typeface="Gotham Book"/>
                        </a:rPr>
                        <a:t>Description</a:t>
                      </a:r>
                      <a:endParaRPr sz="1100" dirty="0">
                        <a:latin typeface="Gotham Book"/>
                        <a:cs typeface="Gotham Book" pitchFamily="50" charset="0"/>
                      </a:endParaRPr>
                    </a:p>
                  </a:txBody>
                  <a:tcPr marL="0" marR="0" marT="476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00" spc="-10" dirty="0">
                          <a:latin typeface="Gotham Book"/>
                        </a:rPr>
                        <a:t>Count</a:t>
                      </a:r>
                      <a:endParaRPr sz="1100" dirty="0">
                        <a:latin typeface="Gotham Book"/>
                        <a:cs typeface="Gotham Book" pitchFamily="50" charset="0"/>
                      </a:endParaRPr>
                    </a:p>
                  </a:txBody>
                  <a:tcPr marL="0" marR="0" marT="476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4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lang="en-IN" sz="1100" spc="-20" dirty="0">
                          <a:latin typeface="Gotham Book"/>
                        </a:rPr>
                        <a:t>Data</a:t>
                      </a:r>
                      <a:endParaRPr sz="1100" dirty="0">
                        <a:latin typeface="Gotham Book"/>
                        <a:cs typeface="Gotham Book" pitchFamily="50" charset="0"/>
                      </a:endParaRPr>
                    </a:p>
                  </a:txBody>
                  <a:tcPr marL="0" marR="0" marT="4826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lang="en-IN" sz="1100" spc="-10" dirty="0">
                          <a:latin typeface="Gotham Book"/>
                          <a:cs typeface="Gotham Book" pitchFamily="50" charset="0"/>
                        </a:rPr>
                        <a:t>135,000</a:t>
                      </a:r>
                      <a:endParaRPr sz="1100" dirty="0">
                        <a:latin typeface="Gotham Book"/>
                        <a:cs typeface="Gotham Book" pitchFamily="50" charset="0"/>
                      </a:endParaRPr>
                    </a:p>
                  </a:txBody>
                  <a:tcPr marL="0" marR="0" marT="4826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4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lang="en-IN" sz="1100" dirty="0">
                          <a:latin typeface="Gotham Book"/>
                          <a:cs typeface="Gotham Book" pitchFamily="50" charset="0"/>
                        </a:rPr>
                        <a:t>Cleaned Data</a:t>
                      </a:r>
                      <a:endParaRPr sz="1100" dirty="0">
                        <a:latin typeface="Gotham Book"/>
                        <a:cs typeface="Gotham Book" pitchFamily="50" charset="0"/>
                      </a:endParaRPr>
                    </a:p>
                  </a:txBody>
                  <a:tcPr marL="0" marR="0" marT="4826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lang="en-IN" sz="1100" dirty="0">
                          <a:latin typeface="Gotham Book"/>
                          <a:cs typeface="Gotham Book" pitchFamily="50" charset="0"/>
                        </a:rPr>
                        <a:t>120,000</a:t>
                      </a:r>
                      <a:endParaRPr sz="1100" dirty="0">
                        <a:latin typeface="Gotham Book"/>
                        <a:cs typeface="Gotham Book" pitchFamily="50" charset="0"/>
                      </a:endParaRPr>
                    </a:p>
                  </a:txBody>
                  <a:tcPr marL="0" marR="0" marT="4826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49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00" spc="-20" dirty="0">
                          <a:latin typeface="Gotham Book"/>
                        </a:rPr>
                        <a:t>Train</a:t>
                      </a:r>
                      <a:r>
                        <a:rPr sz="1100" spc="-40" dirty="0">
                          <a:latin typeface="Gotham Book"/>
                        </a:rPr>
                        <a:t> </a:t>
                      </a:r>
                      <a:r>
                        <a:rPr sz="1100" spc="-20" dirty="0">
                          <a:latin typeface="Gotham Book"/>
                        </a:rPr>
                        <a:t>Data</a:t>
                      </a:r>
                      <a:endParaRPr sz="1100" dirty="0">
                        <a:latin typeface="Gotham Book"/>
                        <a:cs typeface="Gotham Book" pitchFamily="50" charset="0"/>
                      </a:endParaRPr>
                    </a:p>
                  </a:txBody>
                  <a:tcPr marL="0" marR="0" marT="4826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lang="en-IN" sz="1100" spc="-10" dirty="0">
                          <a:latin typeface="Gotham Book"/>
                          <a:cs typeface="Gotham Book" pitchFamily="50" charset="0"/>
                        </a:rPr>
                        <a:t>96,000</a:t>
                      </a:r>
                      <a:endParaRPr sz="1100" dirty="0">
                        <a:latin typeface="Gotham Book"/>
                        <a:cs typeface="Gotham Book" pitchFamily="50" charset="0"/>
                      </a:endParaRPr>
                    </a:p>
                  </a:txBody>
                  <a:tcPr marL="0" marR="0" marT="4826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4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00" spc="-35" dirty="0">
                          <a:latin typeface="Gotham Book"/>
                        </a:rPr>
                        <a:t>Test</a:t>
                      </a:r>
                      <a:r>
                        <a:rPr sz="1100" spc="-15" dirty="0">
                          <a:latin typeface="Gotham Book"/>
                        </a:rPr>
                        <a:t> </a:t>
                      </a:r>
                      <a:r>
                        <a:rPr sz="1100" spc="-20" dirty="0">
                          <a:latin typeface="Gotham Book"/>
                        </a:rPr>
                        <a:t>Data</a:t>
                      </a:r>
                      <a:endParaRPr sz="1100" dirty="0">
                        <a:latin typeface="Gotham Book"/>
                        <a:cs typeface="Gotham Book" pitchFamily="50" charset="0"/>
                      </a:endParaRPr>
                    </a:p>
                  </a:txBody>
                  <a:tcPr marL="0" marR="0" marT="4826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lang="en-IN" sz="1100" spc="-10" dirty="0">
                          <a:latin typeface="Gotham Book"/>
                          <a:cs typeface="Gotham Book" pitchFamily="50" charset="0"/>
                        </a:rPr>
                        <a:t>24,000</a:t>
                      </a:r>
                      <a:endParaRPr sz="1100" dirty="0">
                        <a:latin typeface="Gotham Book"/>
                        <a:cs typeface="Gotham Book" pitchFamily="50" charset="0"/>
                      </a:endParaRPr>
                    </a:p>
                  </a:txBody>
                  <a:tcPr marL="0" marR="0" marT="4826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object 13">
            <a:extLst>
              <a:ext uri="{FF2B5EF4-FFF2-40B4-BE49-F238E27FC236}">
                <a16:creationId xmlns:a16="http://schemas.microsoft.com/office/drawing/2014/main" id="{0088A373-46DD-8823-18FC-6BB411DB4878}"/>
              </a:ext>
            </a:extLst>
          </p:cNvPr>
          <p:cNvSpPr txBox="1"/>
          <p:nvPr/>
        </p:nvSpPr>
        <p:spPr>
          <a:xfrm>
            <a:off x="6391835" y="4278940"/>
            <a:ext cx="5120720" cy="1785745"/>
          </a:xfrm>
          <a:prstGeom prst="rect">
            <a:avLst/>
          </a:prstGeom>
          <a:ln w="12700">
            <a:solidFill>
              <a:srgbClr val="ED7D31"/>
            </a:solidFill>
            <a:prstDash val="dash"/>
          </a:ln>
        </p:spPr>
        <p:txBody>
          <a:bodyPr vert="horz" wrap="square" lIns="0" tIns="920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45"/>
              </a:spcBef>
            </a:pPr>
            <a:r>
              <a:rPr lang="en-IN" sz="1100" b="1" dirty="0">
                <a:latin typeface="Gotham Book"/>
                <a:cs typeface="Calibri"/>
              </a:rPr>
              <a:t>Models</a:t>
            </a:r>
            <a:r>
              <a:rPr lang="en-IN" sz="1100" b="1" spc="-40" dirty="0">
                <a:latin typeface="Gotham Book"/>
                <a:cs typeface="Calibri"/>
              </a:rPr>
              <a:t> </a:t>
            </a:r>
            <a:r>
              <a:rPr lang="en-IN" sz="1100" b="1" spc="-20" dirty="0">
                <a:latin typeface="Gotham Book"/>
                <a:cs typeface="Calibri"/>
              </a:rPr>
              <a:t>used -</a:t>
            </a:r>
            <a:endParaRPr lang="en-IN" sz="1100" dirty="0">
              <a:latin typeface="Gotham Book"/>
              <a:cs typeface="Calibri"/>
            </a:endParaRPr>
          </a:p>
          <a:p>
            <a:pPr marL="378460" indent="-286385">
              <a:lnSpc>
                <a:spcPct val="100000"/>
              </a:lnSpc>
              <a:buFont typeface="Wingdings" panose="05000000000000000000" pitchFamily="2" charset="2"/>
              <a:buChar char="q"/>
              <a:tabLst>
                <a:tab pos="378460" algn="l"/>
              </a:tabLst>
            </a:pPr>
            <a:r>
              <a:rPr lang="en-IN" sz="1100" dirty="0">
                <a:latin typeface="Gotham Book"/>
                <a:cs typeface="Calibri"/>
              </a:rPr>
              <a:t>Linear</a:t>
            </a:r>
            <a:r>
              <a:rPr lang="en-IN" sz="1100" spc="-40" dirty="0">
                <a:latin typeface="Gotham Book"/>
                <a:cs typeface="Calibri"/>
              </a:rPr>
              <a:t> </a:t>
            </a:r>
            <a:r>
              <a:rPr lang="en-IN" sz="1100" spc="-10" dirty="0">
                <a:latin typeface="Gotham Book"/>
                <a:cs typeface="Calibri"/>
              </a:rPr>
              <a:t>Regression</a:t>
            </a:r>
            <a:endParaRPr lang="en-IN" sz="1100" dirty="0">
              <a:latin typeface="Gotham Book"/>
              <a:cs typeface="Calibri"/>
            </a:endParaRPr>
          </a:p>
          <a:p>
            <a:pPr marL="378460" indent="-286385">
              <a:lnSpc>
                <a:spcPct val="100000"/>
              </a:lnSpc>
              <a:buFont typeface="Wingdings" panose="05000000000000000000" pitchFamily="2" charset="2"/>
              <a:buChar char="q"/>
              <a:tabLst>
                <a:tab pos="378460" algn="l"/>
              </a:tabLst>
            </a:pPr>
            <a:r>
              <a:rPr lang="en-IN" sz="1100" dirty="0">
                <a:latin typeface="Gotham Book"/>
                <a:cs typeface="Calibri"/>
              </a:rPr>
              <a:t>Random</a:t>
            </a:r>
            <a:r>
              <a:rPr lang="en-IN" sz="1100" spc="-55" dirty="0">
                <a:latin typeface="Gotham Book"/>
                <a:cs typeface="Calibri"/>
              </a:rPr>
              <a:t> </a:t>
            </a:r>
            <a:r>
              <a:rPr lang="en-IN" sz="1100" spc="-10" dirty="0">
                <a:latin typeface="Gotham Book"/>
                <a:cs typeface="Calibri"/>
              </a:rPr>
              <a:t>Forest</a:t>
            </a:r>
          </a:p>
          <a:p>
            <a:pPr marL="378460" indent="-286385">
              <a:lnSpc>
                <a:spcPct val="100000"/>
              </a:lnSpc>
              <a:buFont typeface="Wingdings" panose="05000000000000000000" pitchFamily="2" charset="2"/>
              <a:buChar char="q"/>
              <a:tabLst>
                <a:tab pos="378460" algn="l"/>
              </a:tabLst>
            </a:pPr>
            <a:r>
              <a:rPr lang="en-IN" sz="1100" spc="-10" dirty="0">
                <a:latin typeface="Gotham Book"/>
                <a:cs typeface="Calibri"/>
              </a:rPr>
              <a:t>XGBoost</a:t>
            </a:r>
          </a:p>
          <a:p>
            <a:pPr marL="378460" indent="-286385">
              <a:lnSpc>
                <a:spcPct val="100000"/>
              </a:lnSpc>
              <a:buFont typeface="Wingdings" panose="05000000000000000000" pitchFamily="2" charset="2"/>
              <a:buChar char="q"/>
              <a:tabLst>
                <a:tab pos="378460" algn="l"/>
              </a:tabLst>
            </a:pPr>
            <a:r>
              <a:rPr lang="en-IN" sz="1100" spc="-10" dirty="0">
                <a:latin typeface="Gotham Book"/>
                <a:cs typeface="Calibri"/>
              </a:rPr>
              <a:t>LGBM</a:t>
            </a:r>
          </a:p>
          <a:p>
            <a:pPr marL="378460" indent="-286385">
              <a:lnSpc>
                <a:spcPct val="100000"/>
              </a:lnSpc>
              <a:buFont typeface="Wingdings" panose="05000000000000000000" pitchFamily="2" charset="2"/>
              <a:buChar char="q"/>
              <a:tabLst>
                <a:tab pos="378460" algn="l"/>
              </a:tabLst>
            </a:pPr>
            <a:r>
              <a:rPr lang="en-IN" sz="1100" spc="-10" dirty="0">
                <a:latin typeface="Gotham Book"/>
                <a:cs typeface="Calibri"/>
              </a:rPr>
              <a:t>KNN</a:t>
            </a:r>
            <a:endParaRPr lang="en-IN" sz="1100" dirty="0">
              <a:latin typeface="Gotham Book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  <a:tabLst>
                <a:tab pos="378460" algn="l"/>
              </a:tabLst>
            </a:pPr>
            <a:endParaRPr lang="en-US" sz="1100" b="1" spc="-25" dirty="0">
              <a:solidFill>
                <a:schemeClr val="accent2">
                  <a:lumMod val="75000"/>
                </a:schemeClr>
              </a:solidFill>
              <a:latin typeface="Gotham Book"/>
              <a:cs typeface="Calibri"/>
            </a:endParaRPr>
          </a:p>
          <a:p>
            <a:pPr marL="92075">
              <a:spcBef>
                <a:spcPts val="5"/>
              </a:spcBef>
              <a:tabLst>
                <a:tab pos="378460" algn="l"/>
              </a:tabLst>
            </a:pPr>
            <a:r>
              <a:rPr lang="en-IN" sz="1100" b="1" dirty="0">
                <a:latin typeface="Gotham Book"/>
                <a:cs typeface="Calibri"/>
              </a:rPr>
              <a:t>Metrics</a:t>
            </a:r>
            <a:r>
              <a:rPr lang="en-IN" sz="1100" b="1" spc="-40" dirty="0">
                <a:latin typeface="Gotham Book"/>
                <a:cs typeface="Calibri"/>
              </a:rPr>
              <a:t> </a:t>
            </a:r>
            <a:r>
              <a:rPr lang="en-IN" sz="1100" b="1" spc="-20" dirty="0">
                <a:latin typeface="Gotham Book"/>
                <a:cs typeface="Calibri"/>
              </a:rPr>
              <a:t>used -</a:t>
            </a:r>
            <a:endParaRPr sz="1100" dirty="0">
              <a:latin typeface="Gotham Book"/>
              <a:cs typeface="Calibri"/>
            </a:endParaRPr>
          </a:p>
          <a:p>
            <a:pPr marL="378460" indent="-286385">
              <a:lnSpc>
                <a:spcPct val="100000"/>
              </a:lnSpc>
              <a:buFont typeface="Wingdings" panose="05000000000000000000" pitchFamily="2" charset="2"/>
              <a:buChar char="q"/>
              <a:tabLst>
                <a:tab pos="378460" algn="l"/>
              </a:tabLst>
            </a:pPr>
            <a:r>
              <a:rPr lang="en-IN" sz="1100" dirty="0">
                <a:latin typeface="Gotham Book"/>
                <a:cs typeface="Calibri"/>
              </a:rPr>
              <a:t>Mean</a:t>
            </a:r>
            <a:r>
              <a:rPr lang="en-IN" sz="1100" spc="-40" dirty="0">
                <a:latin typeface="Gotham Book"/>
                <a:cs typeface="Calibri"/>
              </a:rPr>
              <a:t> </a:t>
            </a:r>
            <a:r>
              <a:rPr lang="en-IN" sz="1100" spc="-10" dirty="0">
                <a:latin typeface="Gotham Book"/>
                <a:cs typeface="Calibri"/>
              </a:rPr>
              <a:t>Absolute</a:t>
            </a:r>
            <a:r>
              <a:rPr lang="en-IN" sz="1100" spc="-45" dirty="0">
                <a:latin typeface="Gotham Book"/>
                <a:cs typeface="Calibri"/>
              </a:rPr>
              <a:t> </a:t>
            </a:r>
            <a:r>
              <a:rPr lang="en-IN" sz="1100" spc="-20" dirty="0">
                <a:latin typeface="Gotham Book"/>
                <a:cs typeface="Calibri"/>
              </a:rPr>
              <a:t>Error</a:t>
            </a:r>
            <a:endParaRPr lang="en-IN" sz="1100" dirty="0">
              <a:latin typeface="Gotham Book"/>
              <a:cs typeface="Calibri"/>
            </a:endParaRPr>
          </a:p>
          <a:p>
            <a:pPr marL="378460" indent="-286385">
              <a:lnSpc>
                <a:spcPct val="100000"/>
              </a:lnSpc>
              <a:buFont typeface="Wingdings" panose="05000000000000000000" pitchFamily="2" charset="2"/>
              <a:buChar char="q"/>
              <a:tabLst>
                <a:tab pos="378460" algn="l"/>
              </a:tabLst>
            </a:pPr>
            <a:r>
              <a:rPr lang="en-IN" sz="1100" dirty="0">
                <a:latin typeface="Gotham Book"/>
                <a:cs typeface="Calibri"/>
              </a:rPr>
              <a:t>R2</a:t>
            </a:r>
            <a:r>
              <a:rPr lang="en-IN" sz="1100" spc="-10" dirty="0">
                <a:latin typeface="Gotham Book"/>
                <a:cs typeface="Calibri"/>
              </a:rPr>
              <a:t> score</a:t>
            </a:r>
            <a:endParaRPr lang="en-IN" sz="1100" dirty="0">
              <a:latin typeface="Gotham Book"/>
              <a:cs typeface="Calibri"/>
            </a:endParaRPr>
          </a:p>
        </p:txBody>
      </p:sp>
      <p:sp>
        <p:nvSpPr>
          <p:cNvPr id="39" name="object 13">
            <a:extLst>
              <a:ext uri="{FF2B5EF4-FFF2-40B4-BE49-F238E27FC236}">
                <a16:creationId xmlns:a16="http://schemas.microsoft.com/office/drawing/2014/main" id="{F4A69D99-CA1F-D2AB-C568-6990B50601A0}"/>
              </a:ext>
            </a:extLst>
          </p:cNvPr>
          <p:cNvSpPr txBox="1"/>
          <p:nvPr/>
        </p:nvSpPr>
        <p:spPr>
          <a:xfrm>
            <a:off x="6736697" y="1590005"/>
            <a:ext cx="5108004" cy="1468800"/>
          </a:xfrm>
          <a:prstGeom prst="rect">
            <a:avLst/>
          </a:prstGeom>
          <a:ln w="12700">
            <a:solidFill>
              <a:srgbClr val="ED7D31"/>
            </a:solidFill>
            <a:prstDash val="dash"/>
          </a:ln>
        </p:spPr>
        <p:txBody>
          <a:bodyPr vert="horz" wrap="square" lIns="0" tIns="920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25"/>
              </a:spcBef>
            </a:pPr>
            <a:r>
              <a:rPr sz="1200" b="1" dirty="0">
                <a:latin typeface="Gotham Book"/>
                <a:cs typeface="Calibri"/>
              </a:rPr>
              <a:t>Data</a:t>
            </a:r>
            <a:r>
              <a:rPr sz="1200" b="1" spc="-65" dirty="0">
                <a:latin typeface="Gotham Book"/>
                <a:cs typeface="Calibri"/>
              </a:rPr>
              <a:t> </a:t>
            </a:r>
            <a:r>
              <a:rPr sz="1200" b="1" spc="-10" dirty="0">
                <a:latin typeface="Gotham Book"/>
                <a:cs typeface="Calibri"/>
              </a:rPr>
              <a:t>Cleaning</a:t>
            </a:r>
            <a:endParaRPr sz="1200" dirty="0">
              <a:latin typeface="Gotham Book"/>
              <a:cs typeface="Calibri"/>
            </a:endParaRPr>
          </a:p>
          <a:p>
            <a:pPr marL="378460" indent="-286385">
              <a:lnSpc>
                <a:spcPct val="100000"/>
              </a:lnSpc>
              <a:spcBef>
                <a:spcPts val="15"/>
              </a:spcBef>
              <a:buFont typeface="Wingdings" panose="05000000000000000000" pitchFamily="2" charset="2"/>
              <a:buChar char="q"/>
              <a:tabLst>
                <a:tab pos="378460" algn="l"/>
              </a:tabLst>
            </a:pPr>
            <a:r>
              <a:rPr lang="en-US" sz="1100" dirty="0">
                <a:latin typeface="Gotham Book"/>
                <a:cs typeface="Calibri"/>
              </a:rPr>
              <a:t>Removed unnecessary columns like Unique_ID, as it likely represents an identifier with no predictive value, and keeping it could lead to overfitting or unnecessary computational complexity</a:t>
            </a:r>
            <a:r>
              <a:rPr lang="en-US" sz="1200" dirty="0">
                <a:latin typeface="Gotham Book"/>
                <a:cs typeface="Calibri"/>
              </a:rPr>
              <a:t>.</a:t>
            </a:r>
            <a:endParaRPr lang="en-US" sz="1200" b="1" spc="-25" dirty="0">
              <a:solidFill>
                <a:schemeClr val="accent2">
                  <a:lumMod val="75000"/>
                </a:schemeClr>
              </a:solidFill>
              <a:latin typeface="Gotham Book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  <a:tabLst>
                <a:tab pos="378460" algn="l"/>
              </a:tabLst>
            </a:pPr>
            <a:r>
              <a:rPr sz="1200" b="1" spc="-25" dirty="0">
                <a:latin typeface="Gotham Book"/>
                <a:cs typeface="Calibri"/>
              </a:rPr>
              <a:t>EDA</a:t>
            </a:r>
            <a:endParaRPr sz="1200" dirty="0">
              <a:latin typeface="Gotham Book"/>
              <a:cs typeface="Calibri"/>
            </a:endParaRPr>
          </a:p>
          <a:p>
            <a:pPr marL="378460" indent="-286385">
              <a:lnSpc>
                <a:spcPct val="100000"/>
              </a:lnSpc>
              <a:spcBef>
                <a:spcPts val="25"/>
              </a:spcBef>
              <a:buFont typeface="Wingdings" panose="05000000000000000000" pitchFamily="2" charset="2"/>
              <a:buChar char="q"/>
              <a:tabLst>
                <a:tab pos="378460" algn="l"/>
              </a:tabLst>
            </a:pPr>
            <a:r>
              <a:rPr sz="1100" dirty="0">
                <a:latin typeface="Gotham Book"/>
                <a:cs typeface="Calibri"/>
              </a:rPr>
              <a:t>Conduct</a:t>
            </a:r>
            <a:r>
              <a:rPr sz="1100" spc="-50" dirty="0">
                <a:latin typeface="Gotham Book"/>
                <a:cs typeface="Calibri"/>
              </a:rPr>
              <a:t> </a:t>
            </a:r>
            <a:r>
              <a:rPr sz="1100" dirty="0">
                <a:latin typeface="Gotham Book"/>
                <a:cs typeface="Calibri"/>
              </a:rPr>
              <a:t>Anova</a:t>
            </a:r>
            <a:r>
              <a:rPr sz="1100" spc="-20" dirty="0">
                <a:latin typeface="Gotham Book"/>
                <a:cs typeface="Calibri"/>
              </a:rPr>
              <a:t> </a:t>
            </a:r>
            <a:r>
              <a:rPr sz="1100" dirty="0">
                <a:latin typeface="Gotham Book"/>
                <a:cs typeface="Calibri"/>
              </a:rPr>
              <a:t>and</a:t>
            </a:r>
            <a:r>
              <a:rPr sz="1100" spc="-55" dirty="0">
                <a:latin typeface="Gotham Book"/>
                <a:cs typeface="Calibri"/>
              </a:rPr>
              <a:t> </a:t>
            </a:r>
            <a:r>
              <a:rPr sz="1100" dirty="0">
                <a:latin typeface="Gotham Book"/>
                <a:cs typeface="Calibri"/>
              </a:rPr>
              <a:t>Chi</a:t>
            </a:r>
            <a:r>
              <a:rPr sz="1100" spc="-50" dirty="0">
                <a:latin typeface="Gotham Book"/>
                <a:cs typeface="Calibri"/>
              </a:rPr>
              <a:t> </a:t>
            </a:r>
            <a:r>
              <a:rPr sz="1100" dirty="0">
                <a:latin typeface="Gotham Book"/>
                <a:cs typeface="Calibri"/>
              </a:rPr>
              <a:t>square</a:t>
            </a:r>
            <a:r>
              <a:rPr sz="1100" spc="-40" dirty="0">
                <a:latin typeface="Gotham Book"/>
                <a:cs typeface="Calibri"/>
              </a:rPr>
              <a:t> </a:t>
            </a:r>
            <a:r>
              <a:rPr sz="1100" dirty="0">
                <a:latin typeface="Gotham Book"/>
                <a:cs typeface="Calibri"/>
              </a:rPr>
              <a:t>test</a:t>
            </a:r>
            <a:r>
              <a:rPr sz="1100" spc="-40" dirty="0">
                <a:latin typeface="Gotham Book"/>
                <a:cs typeface="Calibri"/>
              </a:rPr>
              <a:t> </a:t>
            </a:r>
            <a:r>
              <a:rPr sz="1100" dirty="0">
                <a:latin typeface="Gotham Book"/>
                <a:cs typeface="Calibri"/>
              </a:rPr>
              <a:t>to</a:t>
            </a:r>
            <a:r>
              <a:rPr sz="1100" spc="-45" dirty="0">
                <a:latin typeface="Gotham Book"/>
                <a:cs typeface="Calibri"/>
              </a:rPr>
              <a:t> </a:t>
            </a:r>
            <a:r>
              <a:rPr sz="1100" dirty="0">
                <a:latin typeface="Gotham Book"/>
                <a:cs typeface="Calibri"/>
              </a:rPr>
              <a:t>identify</a:t>
            </a:r>
            <a:r>
              <a:rPr sz="1100" spc="-60" dirty="0">
                <a:latin typeface="Gotham Book"/>
                <a:cs typeface="Calibri"/>
              </a:rPr>
              <a:t> </a:t>
            </a:r>
            <a:r>
              <a:rPr sz="1100" spc="-25" dirty="0">
                <a:latin typeface="Gotham Book"/>
                <a:cs typeface="Calibri"/>
              </a:rPr>
              <a:t>the</a:t>
            </a:r>
            <a:r>
              <a:rPr lang="en-US" sz="1100" spc="-25" dirty="0">
                <a:latin typeface="Gotham Book"/>
                <a:cs typeface="Calibri"/>
              </a:rPr>
              <a:t> </a:t>
            </a:r>
            <a:r>
              <a:rPr sz="1100" dirty="0">
                <a:latin typeface="Gotham Book"/>
                <a:cs typeface="Calibri"/>
              </a:rPr>
              <a:t>relationship</a:t>
            </a:r>
            <a:r>
              <a:rPr sz="1100" spc="-70" dirty="0">
                <a:latin typeface="Gotham Book"/>
                <a:cs typeface="Calibri"/>
              </a:rPr>
              <a:t> </a:t>
            </a:r>
            <a:r>
              <a:rPr sz="1100" dirty="0">
                <a:latin typeface="Gotham Book"/>
                <a:cs typeface="Calibri"/>
              </a:rPr>
              <a:t>between</a:t>
            </a:r>
            <a:r>
              <a:rPr sz="1100" spc="-25" dirty="0">
                <a:latin typeface="Gotham Book"/>
                <a:cs typeface="Calibri"/>
              </a:rPr>
              <a:t> </a:t>
            </a:r>
            <a:r>
              <a:rPr sz="1100" dirty="0">
                <a:latin typeface="Gotham Book"/>
                <a:cs typeface="Calibri"/>
              </a:rPr>
              <a:t>the</a:t>
            </a:r>
            <a:r>
              <a:rPr sz="1100" spc="-60" dirty="0">
                <a:latin typeface="Gotham Book"/>
                <a:cs typeface="Calibri"/>
              </a:rPr>
              <a:t> </a:t>
            </a:r>
            <a:r>
              <a:rPr sz="1100" spc="-10" dirty="0">
                <a:latin typeface="Gotham Book"/>
                <a:cs typeface="Calibri"/>
              </a:rPr>
              <a:t>variables</a:t>
            </a:r>
            <a:endParaRPr sz="1100" dirty="0">
              <a:latin typeface="Gotham Book"/>
              <a:cs typeface="Calibri"/>
            </a:endParaRPr>
          </a:p>
        </p:txBody>
      </p:sp>
      <p:graphicFrame>
        <p:nvGraphicFramePr>
          <p:cNvPr id="2" name="object 17">
            <a:extLst>
              <a:ext uri="{FF2B5EF4-FFF2-40B4-BE49-F238E27FC236}">
                <a16:creationId xmlns:a16="http://schemas.microsoft.com/office/drawing/2014/main" id="{A43CE078-5857-CEEC-F5A1-C5C08C3A7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255410"/>
              </p:ext>
            </p:extLst>
          </p:nvPr>
        </p:nvGraphicFramePr>
        <p:xfrm>
          <a:off x="224781" y="4192524"/>
          <a:ext cx="5663977" cy="2220241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246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200" b="1" dirty="0">
                          <a:solidFill>
                            <a:schemeClr val="tx1"/>
                          </a:solidFill>
                        </a:rPr>
                        <a:t>Model</a:t>
                      </a:r>
                      <a:r>
                        <a:rPr sz="1200" b="1" spc="-5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1" spc="-20" dirty="0">
                          <a:solidFill>
                            <a:schemeClr val="tx1"/>
                          </a:solidFill>
                        </a:rPr>
                        <a:t>Name</a:t>
                      </a:r>
                      <a:r>
                        <a:rPr lang="en-US" sz="1200" b="1" spc="-20" dirty="0">
                          <a:solidFill>
                            <a:schemeClr val="tx1"/>
                          </a:solidFill>
                        </a:rPr>
                        <a:t>    </a:t>
                      </a:r>
                      <a:endParaRPr sz="12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21655" marB="0" anchor="ctr"/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200" b="1" spc="-10" dirty="0">
                          <a:solidFill>
                            <a:schemeClr val="tx1"/>
                          </a:solidFill>
                        </a:rPr>
                        <a:t>Hyperparameters</a:t>
                      </a:r>
                      <a:r>
                        <a:rPr sz="1200" b="1" spc="-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chemeClr val="tx1"/>
                          </a:solidFill>
                        </a:rPr>
                        <a:t>in</a:t>
                      </a:r>
                      <a:r>
                        <a:rPr sz="1200" b="1" spc="-1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chemeClr val="tx1"/>
                          </a:solidFill>
                        </a:rPr>
                        <a:t>Grid</a:t>
                      </a:r>
                      <a:r>
                        <a:rPr sz="1200" b="1" spc="-3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chemeClr val="tx1"/>
                          </a:solidFill>
                        </a:rPr>
                        <a:t>Search</a:t>
                      </a:r>
                      <a:r>
                        <a:rPr sz="1200" b="1" spc="-35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b="1" spc="-25" dirty="0">
                          <a:solidFill>
                            <a:schemeClr val="tx1"/>
                          </a:solidFill>
                        </a:rPr>
                        <a:t>CV</a:t>
                      </a:r>
                      <a:endParaRPr sz="12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2165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246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Random Forest</a:t>
                      </a:r>
                      <a:endParaRPr sz="12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21655" marB="0" anchor="ctr"/>
                </a:tc>
                <a:tc>
                  <a:txBody>
                    <a:bodyPr/>
                    <a:lstStyle/>
                    <a:p>
                      <a:pPr marL="232410" indent="-228600" algn="ctr">
                        <a:lnSpc>
                          <a:spcPct val="100000"/>
                        </a:lnSpc>
                        <a:spcBef>
                          <a:spcPts val="185"/>
                        </a:spcBef>
                        <a:buFont typeface="+mj-lt"/>
                        <a:buAutoNum type="arabicPeriod"/>
                      </a:pPr>
                      <a:r>
                        <a:rPr lang="en-IN" sz="900" dirty="0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n_estimators</a:t>
                      </a:r>
                      <a:r>
                        <a:rPr lang="en-IN" sz="9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= 100</a:t>
                      </a:r>
                    </a:p>
                    <a:p>
                      <a:pPr marL="232410" indent="-228600" algn="ctr">
                        <a:lnSpc>
                          <a:spcPct val="100000"/>
                        </a:lnSpc>
                        <a:spcBef>
                          <a:spcPts val="185"/>
                        </a:spcBef>
                        <a:buFont typeface="+mj-lt"/>
                        <a:buAutoNum type="arabicPeriod"/>
                      </a:pPr>
                      <a:r>
                        <a:rPr lang="en-IN" sz="9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max_depth = 20</a:t>
                      </a:r>
                      <a:endParaRPr sz="9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21655" marB="0" anchor="ctr"/>
                </a:tc>
                <a:extLst>
                  <a:ext uri="{0D108BD9-81ED-4DB2-BD59-A6C34878D82A}">
                    <a16:rowId xmlns:a16="http://schemas.microsoft.com/office/drawing/2014/main" val="2604304320"/>
                  </a:ext>
                </a:extLst>
              </a:tr>
              <a:tr h="288246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XGBoost</a:t>
                      </a:r>
                      <a:endParaRPr sz="12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21655" marB="0" anchor="ctr"/>
                </a:tc>
                <a:tc>
                  <a:txBody>
                    <a:bodyPr/>
                    <a:lstStyle/>
                    <a:p>
                      <a:pPr marL="232410" indent="-228600" algn="ctr">
                        <a:lnSpc>
                          <a:spcPct val="100000"/>
                        </a:lnSpc>
                        <a:spcBef>
                          <a:spcPts val="185"/>
                        </a:spcBef>
                        <a:buFont typeface="+mj-lt"/>
                        <a:buAutoNum type="arabicPeriod"/>
                      </a:pPr>
                      <a:r>
                        <a:rPr lang="en-IN" sz="900" dirty="0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n_estimators</a:t>
                      </a:r>
                      <a:r>
                        <a:rPr lang="en-IN" sz="9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= 100</a:t>
                      </a:r>
                    </a:p>
                    <a:p>
                      <a:pPr marL="232410" indent="-228600" algn="ctr">
                        <a:lnSpc>
                          <a:spcPct val="100000"/>
                        </a:lnSpc>
                        <a:spcBef>
                          <a:spcPts val="185"/>
                        </a:spcBef>
                        <a:buFont typeface="+mj-lt"/>
                        <a:buAutoNum type="arabicPeriod"/>
                      </a:pPr>
                      <a:r>
                        <a:rPr lang="en-IN" sz="900" dirty="0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max_dept</a:t>
                      </a:r>
                      <a:r>
                        <a:rPr lang="en-IN" sz="9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= 20</a:t>
                      </a:r>
                    </a:p>
                    <a:p>
                      <a:pPr marL="232410" indent="-228600" algn="ctr">
                        <a:lnSpc>
                          <a:spcPct val="100000"/>
                        </a:lnSpc>
                        <a:spcBef>
                          <a:spcPts val="185"/>
                        </a:spcBef>
                        <a:buFont typeface="+mj-lt"/>
                        <a:buAutoNum type="arabicPeriod"/>
                      </a:pPr>
                      <a:r>
                        <a:rPr lang="en-IN" sz="900" dirty="0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learning_rate</a:t>
                      </a:r>
                      <a:r>
                        <a:rPr lang="en-IN" sz="9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= 0.1</a:t>
                      </a:r>
                    </a:p>
                  </a:txBody>
                  <a:tcPr marL="0" marR="0" marT="21655" marB="0" anchor="ctr"/>
                </a:tc>
                <a:extLst>
                  <a:ext uri="{0D108BD9-81ED-4DB2-BD59-A6C34878D82A}">
                    <a16:rowId xmlns:a16="http://schemas.microsoft.com/office/drawing/2014/main" val="1458778941"/>
                  </a:ext>
                </a:extLst>
              </a:tr>
              <a:tr h="288246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LGBM</a:t>
                      </a:r>
                      <a:endParaRPr sz="12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21655" marB="0" anchor="ctr"/>
                </a:tc>
                <a:tc>
                  <a:txBody>
                    <a:bodyPr/>
                    <a:lstStyle/>
                    <a:p>
                      <a:pPr marL="232410" indent="-228600" algn="ctr">
                        <a:lnSpc>
                          <a:spcPct val="100000"/>
                        </a:lnSpc>
                        <a:spcBef>
                          <a:spcPts val="185"/>
                        </a:spcBef>
                        <a:buFont typeface="+mj-lt"/>
                        <a:buAutoNum type="arabicPeriod"/>
                      </a:pPr>
                      <a:r>
                        <a:rPr lang="en-IN" sz="900" dirty="0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n_estimators</a:t>
                      </a:r>
                      <a:r>
                        <a:rPr lang="en-IN" sz="9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= 100</a:t>
                      </a:r>
                    </a:p>
                    <a:p>
                      <a:pPr marL="232410" indent="-228600" algn="ctr">
                        <a:lnSpc>
                          <a:spcPct val="100000"/>
                        </a:lnSpc>
                        <a:spcBef>
                          <a:spcPts val="185"/>
                        </a:spcBef>
                        <a:buFont typeface="+mj-lt"/>
                        <a:buAutoNum type="arabicPeriod"/>
                      </a:pPr>
                      <a:r>
                        <a:rPr lang="en-IN" sz="9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max_depth = 20</a:t>
                      </a:r>
                    </a:p>
                    <a:p>
                      <a:pPr marL="232410" indent="-228600" algn="ctr">
                        <a:lnSpc>
                          <a:spcPct val="100000"/>
                        </a:lnSpc>
                        <a:spcBef>
                          <a:spcPts val="185"/>
                        </a:spcBef>
                        <a:buFont typeface="+mj-lt"/>
                        <a:buAutoNum type="arabicPeriod"/>
                      </a:pPr>
                      <a:r>
                        <a:rPr lang="en-IN" sz="900" dirty="0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learning_rate</a:t>
                      </a:r>
                      <a:r>
                        <a:rPr lang="en-IN" sz="9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= 0.1</a:t>
                      </a:r>
                    </a:p>
                  </a:txBody>
                  <a:tcPr marL="0" marR="0" marT="21655" marB="0" anchor="ctr"/>
                </a:tc>
                <a:extLst>
                  <a:ext uri="{0D108BD9-81ED-4DB2-BD59-A6C34878D82A}">
                    <a16:rowId xmlns:a16="http://schemas.microsoft.com/office/drawing/2014/main" val="1750564138"/>
                  </a:ext>
                </a:extLst>
              </a:tr>
              <a:tr h="288246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KNN</a:t>
                      </a:r>
                      <a:endParaRPr sz="12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21655" marB="0" anchor="ctr"/>
                </a:tc>
                <a:tc>
                  <a:txBody>
                    <a:bodyPr/>
                    <a:lstStyle/>
                    <a:p>
                      <a:pPr marL="232410" indent="-228600" algn="ctr">
                        <a:lnSpc>
                          <a:spcPct val="100000"/>
                        </a:lnSpc>
                        <a:spcBef>
                          <a:spcPts val="185"/>
                        </a:spcBef>
                        <a:buFont typeface="+mj-lt"/>
                        <a:buAutoNum type="arabicPeriod"/>
                      </a:pPr>
                      <a:r>
                        <a:rPr lang="en-IN" sz="900" dirty="0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n_neighbors</a:t>
                      </a:r>
                      <a:r>
                        <a:rPr lang="en-IN" sz="9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= 5</a:t>
                      </a:r>
                    </a:p>
                    <a:p>
                      <a:pPr marL="232410" indent="-228600" algn="ctr">
                        <a:lnSpc>
                          <a:spcPct val="100000"/>
                        </a:lnSpc>
                        <a:spcBef>
                          <a:spcPts val="185"/>
                        </a:spcBef>
                        <a:buFont typeface="+mj-lt"/>
                        <a:buAutoNum type="arabicPeriod"/>
                      </a:pPr>
                      <a:r>
                        <a:rPr lang="en-IN" sz="9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weights = “uniform’</a:t>
                      </a:r>
                    </a:p>
                  </a:txBody>
                  <a:tcPr marL="0" marR="0" marT="21655" marB="0" anchor="ctr"/>
                </a:tc>
                <a:extLst>
                  <a:ext uri="{0D108BD9-81ED-4DB2-BD59-A6C34878D82A}">
                    <a16:rowId xmlns:a16="http://schemas.microsoft.com/office/drawing/2014/main" val="970115901"/>
                  </a:ext>
                </a:extLst>
              </a:tr>
              <a:tr h="288246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Averaging Ensemble Model</a:t>
                      </a:r>
                      <a:endParaRPr sz="12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21655" marB="0" anchor="ctr"/>
                </a:tc>
                <a:tc>
                  <a:txBody>
                    <a:bodyPr/>
                    <a:lstStyle/>
                    <a:p>
                      <a:pPr marL="232410" indent="-228600" algn="ctr">
                        <a:lnSpc>
                          <a:spcPct val="100000"/>
                        </a:lnSpc>
                        <a:spcBef>
                          <a:spcPts val="185"/>
                        </a:spcBef>
                        <a:buFont typeface="+mj-lt"/>
                        <a:buAutoNum type="arabicPeriod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XGBoost – n_estimators – 100, max_depth – 20, learning rate – 0.1</a:t>
                      </a:r>
                    </a:p>
                    <a:p>
                      <a:pPr marL="232410" indent="-228600" algn="ctr">
                        <a:lnSpc>
                          <a:spcPct val="100000"/>
                        </a:lnSpc>
                        <a:spcBef>
                          <a:spcPts val="185"/>
                        </a:spcBef>
                        <a:buFont typeface="+mj-lt"/>
                        <a:buAutoNum type="arabicPeriod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LGBM - n_estimators – 200, max_depth – 20, learning rate – 0.1</a:t>
                      </a:r>
                      <a:endParaRPr lang="en-IN" sz="9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21655" marB="0" anchor="ctr"/>
                </a:tc>
                <a:extLst>
                  <a:ext uri="{0D108BD9-81ED-4DB2-BD59-A6C34878D82A}">
                    <a16:rowId xmlns:a16="http://schemas.microsoft.com/office/drawing/2014/main" val="747365652"/>
                  </a:ext>
                </a:extLst>
              </a:tr>
            </a:tbl>
          </a:graphicData>
        </a:graphic>
      </p:graphicFrame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8977A128-15A0-BEFB-1A1F-B03ED14FD560}"/>
              </a:ext>
            </a:extLst>
          </p:cNvPr>
          <p:cNvSpPr/>
          <p:nvPr/>
        </p:nvSpPr>
        <p:spPr>
          <a:xfrm>
            <a:off x="1379118" y="1084217"/>
            <a:ext cx="3177190" cy="345139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 Book" pitchFamily="50" charset="0"/>
                <a:cs typeface="Gotham Book" pitchFamily="50" charset="0"/>
              </a:rPr>
              <a:t>Data Points</a:t>
            </a:r>
            <a:endParaRPr lang="en-US" sz="1200" dirty="0"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19BF7C4C-9370-4BF3-27D2-394CF1C4A9C0}"/>
              </a:ext>
            </a:extLst>
          </p:cNvPr>
          <p:cNvSpPr/>
          <p:nvPr/>
        </p:nvSpPr>
        <p:spPr>
          <a:xfrm>
            <a:off x="7762532" y="1070255"/>
            <a:ext cx="3177190" cy="345139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 Book" pitchFamily="50" charset="0"/>
                <a:cs typeface="Gotham Book" pitchFamily="50" charset="0"/>
              </a:rPr>
              <a:t>Data Cleaning and EDA</a:t>
            </a:r>
            <a:endParaRPr lang="en-US" sz="1200" dirty="0"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3" name="Rectangle: Diagonal Corners Snipped 12">
            <a:extLst>
              <a:ext uri="{FF2B5EF4-FFF2-40B4-BE49-F238E27FC236}">
                <a16:creationId xmlns:a16="http://schemas.microsoft.com/office/drawing/2014/main" id="{FCA70EEC-FDA8-DDFA-67C8-0C5DAAD6B2EA}"/>
              </a:ext>
            </a:extLst>
          </p:cNvPr>
          <p:cNvSpPr/>
          <p:nvPr/>
        </p:nvSpPr>
        <p:spPr>
          <a:xfrm>
            <a:off x="1379118" y="3605925"/>
            <a:ext cx="3177190" cy="345139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Gotham Book" pitchFamily="50" charset="0"/>
                <a:cs typeface="Gotham Book" pitchFamily="50" charset="0"/>
              </a:rPr>
              <a:t>Models used in Grid Search CV</a:t>
            </a:r>
          </a:p>
        </p:txBody>
      </p:sp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2E6FF846-4415-898C-AB9D-C4A4D23050CD}"/>
              </a:ext>
            </a:extLst>
          </p:cNvPr>
          <p:cNvSpPr/>
          <p:nvPr/>
        </p:nvSpPr>
        <p:spPr>
          <a:xfrm>
            <a:off x="7762532" y="3644108"/>
            <a:ext cx="3177190" cy="345139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Gotham Book" pitchFamily="50" charset="0"/>
                <a:cs typeface="Gotham Book" pitchFamily="50" charset="0"/>
              </a:rPr>
              <a:t>Machine Learning Models &amp; Metrics</a:t>
            </a:r>
          </a:p>
        </p:txBody>
      </p:sp>
    </p:spTree>
    <p:extLst>
      <p:ext uri="{BB962C8B-B14F-4D97-AF65-F5344CB8AC3E}">
        <p14:creationId xmlns:p14="http://schemas.microsoft.com/office/powerpoint/2010/main" val="8805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7D8E7-C28D-8409-9DB4-F9CBA4FD6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ADBC56-EF7D-2391-C286-BEAEEF694EAD}"/>
              </a:ext>
            </a:extLst>
          </p:cNvPr>
          <p:cNvCxnSpPr>
            <a:cxnSpLocks/>
          </p:cNvCxnSpPr>
          <p:nvPr/>
        </p:nvCxnSpPr>
        <p:spPr>
          <a:xfrm>
            <a:off x="0" y="869577"/>
            <a:ext cx="12192000" cy="0"/>
          </a:xfrm>
          <a:prstGeom prst="line">
            <a:avLst/>
          </a:prstGeom>
          <a:ln w="19050">
            <a:solidFill>
              <a:srgbClr val="862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A37E37D3-360D-83BA-5FEB-D302D502A118}"/>
              </a:ext>
            </a:extLst>
          </p:cNvPr>
          <p:cNvSpPr/>
          <p:nvPr/>
        </p:nvSpPr>
        <p:spPr>
          <a:xfrm>
            <a:off x="161368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Objective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4A2A066-1DC5-35B5-C320-51D98A24FDC2}"/>
              </a:ext>
            </a:extLst>
          </p:cNvPr>
          <p:cNvSpPr/>
          <p:nvPr/>
        </p:nvSpPr>
        <p:spPr>
          <a:xfrm>
            <a:off x="2192770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Approach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B83C6CF9-9B8A-86EE-64AA-EB6418301151}"/>
              </a:ext>
            </a:extLst>
          </p:cNvPr>
          <p:cNvSpPr/>
          <p:nvPr/>
        </p:nvSpPr>
        <p:spPr>
          <a:xfrm>
            <a:off x="10318377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Reference &amp; Comments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DE4BC016-B300-8A75-59C4-B88E65DF5BFF}"/>
              </a:ext>
            </a:extLst>
          </p:cNvPr>
          <p:cNvSpPr/>
          <p:nvPr/>
        </p:nvSpPr>
        <p:spPr>
          <a:xfrm>
            <a:off x="4224172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Gotham Book" pitchFamily="50" charset="0"/>
                <a:cs typeface="Gotham Book" pitchFamily="50" charset="0"/>
              </a:rPr>
              <a:t>Model Summary</a:t>
            </a:r>
            <a:endParaRPr lang="en-US" dirty="0"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A3B214AB-0ACF-AEB0-38A2-3F62CE46956D}"/>
              </a:ext>
            </a:extLst>
          </p:cNvPr>
          <p:cNvSpPr/>
          <p:nvPr/>
        </p:nvSpPr>
        <p:spPr>
          <a:xfrm>
            <a:off x="6239829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Results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E0105200-9C21-0634-96C8-B3FDF9699BBD}"/>
              </a:ext>
            </a:extLst>
          </p:cNvPr>
          <p:cNvSpPr/>
          <p:nvPr/>
        </p:nvSpPr>
        <p:spPr>
          <a:xfrm>
            <a:off x="8286973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Inference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9C9F975B-2219-824F-4EB9-D2B282BDBAF5}"/>
              </a:ext>
            </a:extLst>
          </p:cNvPr>
          <p:cNvSpPr/>
          <p:nvPr/>
        </p:nvSpPr>
        <p:spPr>
          <a:xfrm>
            <a:off x="408818" y="1125770"/>
            <a:ext cx="7358175" cy="345139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 Book" pitchFamily="50" charset="0"/>
                <a:cs typeface="Gotham Book" pitchFamily="50" charset="0"/>
              </a:rPr>
              <a:t>Data Cleaning and EDA</a:t>
            </a:r>
            <a:endParaRPr lang="en-US" sz="1200" dirty="0">
              <a:latin typeface="Gotham Book" pitchFamily="50" charset="0"/>
              <a:cs typeface="Gotham Book" pitchFamily="50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C144DA-E255-E17D-0898-FA2BFFDFB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11" y="1727101"/>
            <a:ext cx="7449590" cy="464884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7" name="Rectangle: Diagonal Corners Snipped 16">
            <a:extLst>
              <a:ext uri="{FF2B5EF4-FFF2-40B4-BE49-F238E27FC236}">
                <a16:creationId xmlns:a16="http://schemas.microsoft.com/office/drawing/2014/main" id="{0AA48728-1C78-CCCB-7958-EF45D90E2824}"/>
              </a:ext>
            </a:extLst>
          </p:cNvPr>
          <p:cNvSpPr/>
          <p:nvPr/>
        </p:nvSpPr>
        <p:spPr>
          <a:xfrm>
            <a:off x="8448935" y="1125769"/>
            <a:ext cx="3491304" cy="345139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Gotham Book" pitchFamily="50" charset="0"/>
                <a:cs typeface="Gotham Book" pitchFamily="50" charset="0"/>
              </a:rPr>
              <a:t>Correlation of features with 'Calories'</a:t>
            </a:r>
          </a:p>
        </p:txBody>
      </p:sp>
      <p:sp>
        <p:nvSpPr>
          <p:cNvPr id="18" name="Rectangle: Diagonal Corners Snipped 17">
            <a:extLst>
              <a:ext uri="{FF2B5EF4-FFF2-40B4-BE49-F238E27FC236}">
                <a16:creationId xmlns:a16="http://schemas.microsoft.com/office/drawing/2014/main" id="{457E4249-214C-2FE2-776D-DBCDDEFA6D0D}"/>
              </a:ext>
            </a:extLst>
          </p:cNvPr>
          <p:cNvSpPr/>
          <p:nvPr/>
        </p:nvSpPr>
        <p:spPr>
          <a:xfrm>
            <a:off x="8550774" y="1727101"/>
            <a:ext cx="3389465" cy="4648849"/>
          </a:xfrm>
          <a:prstGeom prst="snip2DiagRect">
            <a:avLst>
              <a:gd name="adj1" fmla="val 0"/>
              <a:gd name="adj2" fmla="val 5294"/>
            </a:avLst>
          </a:prstGeom>
          <a:noFill/>
          <a:ln w="19050">
            <a:solidFill>
              <a:srgbClr val="862F3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Duration   =  0.955421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b="1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Heart_Rate = 0.897882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b="1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Body_Temp = 0.824558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b="1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Age = 0.154395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b="1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Weight = 0.035481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b="1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Height = 0.017537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b="1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Gender = -0.022357</a:t>
            </a:r>
            <a:endParaRPr lang="en-US" sz="12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675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04CA4-0FFB-9EA7-EBCC-DAF1DE566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B90DBCA-8FDB-AC60-84B5-543226156507}"/>
              </a:ext>
            </a:extLst>
          </p:cNvPr>
          <p:cNvCxnSpPr>
            <a:cxnSpLocks/>
          </p:cNvCxnSpPr>
          <p:nvPr/>
        </p:nvCxnSpPr>
        <p:spPr>
          <a:xfrm>
            <a:off x="0" y="869577"/>
            <a:ext cx="12192000" cy="0"/>
          </a:xfrm>
          <a:prstGeom prst="line">
            <a:avLst/>
          </a:prstGeom>
          <a:ln w="19050">
            <a:solidFill>
              <a:srgbClr val="862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179DB47E-534C-F142-C9E9-7445CD1786CF}"/>
              </a:ext>
            </a:extLst>
          </p:cNvPr>
          <p:cNvSpPr/>
          <p:nvPr/>
        </p:nvSpPr>
        <p:spPr>
          <a:xfrm>
            <a:off x="161368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Objective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7302ACD-B240-5BEC-352D-76AF2D1F1C84}"/>
              </a:ext>
            </a:extLst>
          </p:cNvPr>
          <p:cNvSpPr/>
          <p:nvPr/>
        </p:nvSpPr>
        <p:spPr>
          <a:xfrm>
            <a:off x="2192770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Approach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DA80AA32-83BC-D7E8-1C6E-6BCA316218E9}"/>
              </a:ext>
            </a:extLst>
          </p:cNvPr>
          <p:cNvSpPr/>
          <p:nvPr/>
        </p:nvSpPr>
        <p:spPr>
          <a:xfrm>
            <a:off x="10318377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Reference &amp; Comments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806741E7-7225-D96A-EA3E-27801127E7D9}"/>
              </a:ext>
            </a:extLst>
          </p:cNvPr>
          <p:cNvSpPr/>
          <p:nvPr/>
        </p:nvSpPr>
        <p:spPr>
          <a:xfrm>
            <a:off x="4224172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Model Summary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497EB01E-2112-63C1-3745-532A28DCF41F}"/>
              </a:ext>
            </a:extLst>
          </p:cNvPr>
          <p:cNvSpPr/>
          <p:nvPr/>
        </p:nvSpPr>
        <p:spPr>
          <a:xfrm>
            <a:off x="6239829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Gotham Book" pitchFamily="50" charset="0"/>
                <a:cs typeface="Gotham Book" pitchFamily="50" charset="0"/>
              </a:rPr>
              <a:t>Results</a:t>
            </a:r>
            <a:endParaRPr lang="en-US" dirty="0"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A8FD85DE-E53A-DA61-AD79-279CC34BDF71}"/>
              </a:ext>
            </a:extLst>
          </p:cNvPr>
          <p:cNvSpPr/>
          <p:nvPr/>
        </p:nvSpPr>
        <p:spPr>
          <a:xfrm>
            <a:off x="8286973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Inference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22" name="Rectangle: Diagonal Corners Snipped 21">
            <a:extLst>
              <a:ext uri="{FF2B5EF4-FFF2-40B4-BE49-F238E27FC236}">
                <a16:creationId xmlns:a16="http://schemas.microsoft.com/office/drawing/2014/main" id="{9A7F4CB5-9B68-7208-38C7-BB31718EA6D3}"/>
              </a:ext>
            </a:extLst>
          </p:cNvPr>
          <p:cNvSpPr/>
          <p:nvPr/>
        </p:nvSpPr>
        <p:spPr>
          <a:xfrm>
            <a:off x="1612662" y="1031905"/>
            <a:ext cx="3177190" cy="345139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 Book" pitchFamily="50" charset="0"/>
                <a:cs typeface="Gotham Book" pitchFamily="50" charset="0"/>
              </a:rPr>
              <a:t>Model Performance</a:t>
            </a:r>
            <a:endParaRPr lang="en-US" sz="1200" dirty="0"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62808031-4DA7-E3A2-1792-92B49B2F6C26}"/>
              </a:ext>
            </a:extLst>
          </p:cNvPr>
          <p:cNvSpPr/>
          <p:nvPr/>
        </p:nvSpPr>
        <p:spPr>
          <a:xfrm>
            <a:off x="7967829" y="1079063"/>
            <a:ext cx="3177190" cy="345139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 Book" pitchFamily="50" charset="0"/>
                <a:cs typeface="Gotham Book" pitchFamily="50" charset="0"/>
              </a:rPr>
              <a:t>Actual vs Predicted Values</a:t>
            </a:r>
            <a:endParaRPr lang="en-US" sz="1200" dirty="0">
              <a:latin typeface="Gotham Book" pitchFamily="50" charset="0"/>
              <a:cs typeface="Gotham Book" pitchFamily="50" charset="0"/>
            </a:endParaRP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7717C758-5F5B-AFB7-D043-D5A785684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524149"/>
              </p:ext>
            </p:extLst>
          </p:nvPr>
        </p:nvGraphicFramePr>
        <p:xfrm>
          <a:off x="161368" y="4872195"/>
          <a:ext cx="3022385" cy="11162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2385">
                  <a:extLst>
                    <a:ext uri="{9D8B030D-6E8A-4147-A177-3AD203B41FA5}">
                      <a16:colId xmlns:a16="http://schemas.microsoft.com/office/drawing/2014/main" val="2892725550"/>
                    </a:ext>
                  </a:extLst>
                </a:gridCol>
              </a:tblGrid>
              <a:tr h="4246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spc="-10" dirty="0">
                          <a:solidFill>
                            <a:srgbClr val="FFFFFF"/>
                          </a:solidFill>
                          <a:latin typeface="Gotham Book"/>
                          <a:cs typeface="Calibri"/>
                        </a:rPr>
                        <a:t>Hyperparameters</a:t>
                      </a:r>
                      <a:r>
                        <a:rPr lang="en-IN" sz="1200" b="1" spc="-15" dirty="0">
                          <a:solidFill>
                            <a:srgbClr val="FFFFFF"/>
                          </a:solidFill>
                          <a:latin typeface="Gotham Book"/>
                          <a:cs typeface="Calibri"/>
                        </a:rPr>
                        <a:t> </a:t>
                      </a:r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Gotham Book"/>
                          <a:cs typeface="Calibri"/>
                        </a:rPr>
                        <a:t>of</a:t>
                      </a:r>
                      <a:r>
                        <a:rPr lang="en-IN" sz="1200" b="1" spc="-30" dirty="0">
                          <a:solidFill>
                            <a:srgbClr val="FFFFFF"/>
                          </a:solidFill>
                          <a:latin typeface="Gotham Book"/>
                          <a:cs typeface="Calibri"/>
                        </a:rPr>
                        <a:t> </a:t>
                      </a:r>
                      <a:r>
                        <a:rPr lang="en-IN" sz="1200" b="1" spc="-20" dirty="0">
                          <a:solidFill>
                            <a:srgbClr val="FFFFFF"/>
                          </a:solidFill>
                          <a:latin typeface="Gotham Book"/>
                          <a:cs typeface="Calibri"/>
                        </a:rPr>
                        <a:t>LGBM</a:t>
                      </a:r>
                      <a:endParaRPr lang="en-IN" sz="1200" dirty="0">
                        <a:latin typeface="Gotham Book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C2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844675"/>
                  </a:ext>
                </a:extLst>
              </a:tr>
              <a:tr h="691552">
                <a:tc>
                  <a:txBody>
                    <a:bodyPr/>
                    <a:lstStyle/>
                    <a:p>
                      <a:pPr marL="363220" indent="-286385">
                        <a:lnSpc>
                          <a:spcPct val="100000"/>
                        </a:lnSpc>
                        <a:spcBef>
                          <a:spcPts val="100"/>
                        </a:spcBef>
                        <a:buFont typeface="Wingdings" panose="05000000000000000000" pitchFamily="2" charset="2"/>
                        <a:buChar char="q"/>
                        <a:tabLst>
                          <a:tab pos="363220" algn="l"/>
                        </a:tabLst>
                      </a:pPr>
                      <a:r>
                        <a:rPr lang="en-US" sz="1200" spc="-10" dirty="0">
                          <a:latin typeface="Gotham Book"/>
                          <a:cs typeface="Calibri"/>
                        </a:rPr>
                        <a:t>learning_rate</a:t>
                      </a:r>
                      <a:r>
                        <a:rPr lang="en-US" sz="1200" dirty="0">
                          <a:latin typeface="Gotham Book"/>
                          <a:cs typeface="Calibri"/>
                        </a:rPr>
                        <a:t> –</a:t>
                      </a:r>
                      <a:r>
                        <a:rPr lang="en-US" sz="1200" spc="-20" dirty="0">
                          <a:latin typeface="Gotham Book"/>
                          <a:cs typeface="Calibri"/>
                        </a:rPr>
                        <a:t> </a:t>
                      </a:r>
                      <a:r>
                        <a:rPr lang="en-US" sz="1200" spc="-25" dirty="0">
                          <a:latin typeface="Gotham Book"/>
                          <a:cs typeface="Calibri"/>
                        </a:rPr>
                        <a:t>0.1</a:t>
                      </a:r>
                      <a:endParaRPr lang="en-US" sz="1200" dirty="0">
                        <a:latin typeface="Gotham Book"/>
                        <a:cs typeface="Calibri"/>
                      </a:endParaRPr>
                    </a:p>
                    <a:p>
                      <a:pPr marL="363220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Wingdings" panose="05000000000000000000" pitchFamily="2" charset="2"/>
                        <a:buChar char="q"/>
                        <a:tabLst>
                          <a:tab pos="363220" algn="l"/>
                        </a:tabLst>
                      </a:pPr>
                      <a:r>
                        <a:rPr lang="en-US" sz="1200" spc="-10" dirty="0">
                          <a:latin typeface="Gotham Book"/>
                          <a:cs typeface="Calibri"/>
                        </a:rPr>
                        <a:t>max_depth </a:t>
                      </a:r>
                      <a:r>
                        <a:rPr lang="en-US" sz="1200" dirty="0">
                          <a:latin typeface="Gotham Book"/>
                          <a:cs typeface="Calibri"/>
                        </a:rPr>
                        <a:t>–</a:t>
                      </a:r>
                      <a:r>
                        <a:rPr lang="en-US" sz="1200" spc="-25" dirty="0">
                          <a:latin typeface="Gotham Book"/>
                          <a:cs typeface="Calibri"/>
                        </a:rPr>
                        <a:t> 20</a:t>
                      </a:r>
                      <a:endParaRPr lang="en-US" sz="1200" dirty="0">
                        <a:latin typeface="Gotham Book"/>
                        <a:cs typeface="Calibri"/>
                      </a:endParaRPr>
                    </a:p>
                    <a:p>
                      <a:pPr marL="363220" indent="-286385">
                        <a:lnSpc>
                          <a:spcPct val="100000"/>
                        </a:lnSpc>
                        <a:buFont typeface="Wingdings" panose="05000000000000000000" pitchFamily="2" charset="2"/>
                        <a:buChar char="q"/>
                        <a:tabLst>
                          <a:tab pos="363220" algn="l"/>
                        </a:tabLst>
                      </a:pPr>
                      <a:r>
                        <a:rPr lang="en-US" sz="1200" spc="-10" dirty="0">
                          <a:latin typeface="Gotham Book"/>
                          <a:cs typeface="Calibri"/>
                        </a:rPr>
                        <a:t>n_estimators</a:t>
                      </a:r>
                      <a:r>
                        <a:rPr lang="en-US" sz="1200" spc="-20" dirty="0">
                          <a:latin typeface="Gotham Book"/>
                          <a:cs typeface="Calibri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Calibri"/>
                        </a:rPr>
                        <a:t>–</a:t>
                      </a:r>
                      <a:r>
                        <a:rPr lang="en-US" sz="1200" spc="-10" dirty="0">
                          <a:latin typeface="Gotham Book"/>
                          <a:cs typeface="Calibri"/>
                        </a:rPr>
                        <a:t> </a:t>
                      </a:r>
                      <a:r>
                        <a:rPr lang="en-US" sz="1200" spc="-25" dirty="0">
                          <a:latin typeface="Gotham Book"/>
                          <a:cs typeface="Calibri"/>
                        </a:rPr>
                        <a:t>200</a:t>
                      </a:r>
                      <a:endParaRPr lang="en-US" sz="1200" dirty="0">
                        <a:latin typeface="Gotham Book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0525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8F761BB6-D666-9992-F646-5AAB57A53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659209"/>
              </p:ext>
            </p:extLst>
          </p:nvPr>
        </p:nvGraphicFramePr>
        <p:xfrm>
          <a:off x="3447702" y="4872196"/>
          <a:ext cx="3022385" cy="11162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2385">
                  <a:extLst>
                    <a:ext uri="{9D8B030D-6E8A-4147-A177-3AD203B41FA5}">
                      <a16:colId xmlns:a16="http://schemas.microsoft.com/office/drawing/2014/main" val="2892725550"/>
                    </a:ext>
                  </a:extLst>
                </a:gridCol>
              </a:tblGrid>
              <a:tr h="4246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spc="-10" dirty="0">
                          <a:solidFill>
                            <a:srgbClr val="FFFFFF"/>
                          </a:solidFill>
                          <a:latin typeface="Gotham Book"/>
                          <a:cs typeface="Calibri"/>
                        </a:rPr>
                        <a:t>Hyperparameters</a:t>
                      </a:r>
                      <a:r>
                        <a:rPr lang="en-IN" sz="1200" b="1" spc="-15" dirty="0">
                          <a:solidFill>
                            <a:srgbClr val="FFFFFF"/>
                          </a:solidFill>
                          <a:latin typeface="Gotham Book"/>
                          <a:cs typeface="Calibri"/>
                        </a:rPr>
                        <a:t> </a:t>
                      </a:r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Gotham Book"/>
                          <a:cs typeface="Calibri"/>
                        </a:rPr>
                        <a:t>of</a:t>
                      </a:r>
                      <a:r>
                        <a:rPr lang="en-IN" sz="1200" b="1" spc="-20" dirty="0">
                          <a:solidFill>
                            <a:srgbClr val="FFFFFF"/>
                          </a:solidFill>
                          <a:latin typeface="Gotham Book"/>
                          <a:cs typeface="Calibri"/>
                        </a:rPr>
                        <a:t> </a:t>
                      </a:r>
                      <a:r>
                        <a:rPr lang="en-IN" sz="1200" b="1" spc="-10" dirty="0">
                          <a:solidFill>
                            <a:srgbClr val="FFFFFF"/>
                          </a:solidFill>
                          <a:latin typeface="Gotham Book"/>
                          <a:cs typeface="Calibri"/>
                        </a:rPr>
                        <a:t>XGBoost</a:t>
                      </a:r>
                      <a:endParaRPr lang="en-IN" sz="1200" dirty="0">
                        <a:latin typeface="Gotham Book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C2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844675"/>
                  </a:ext>
                </a:extLst>
              </a:tr>
              <a:tr h="691552">
                <a:tc>
                  <a:txBody>
                    <a:bodyPr/>
                    <a:lstStyle/>
                    <a:p>
                      <a:pPr marL="363855" indent="-286385">
                        <a:lnSpc>
                          <a:spcPct val="100000"/>
                        </a:lnSpc>
                        <a:spcBef>
                          <a:spcPts val="100"/>
                        </a:spcBef>
                        <a:buFont typeface="Wingdings" panose="05000000000000000000" pitchFamily="2" charset="2"/>
                        <a:buChar char="q"/>
                        <a:tabLst>
                          <a:tab pos="363855" algn="l"/>
                        </a:tabLst>
                      </a:pPr>
                      <a:r>
                        <a:rPr lang="en-US" sz="1200" spc="-10" dirty="0">
                          <a:latin typeface="Gotham Book"/>
                          <a:cs typeface="Calibri"/>
                        </a:rPr>
                        <a:t>learning_rate</a:t>
                      </a:r>
                      <a:r>
                        <a:rPr lang="en-US" sz="1200" spc="5" dirty="0">
                          <a:latin typeface="Gotham Book"/>
                          <a:cs typeface="Calibri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Calibri"/>
                        </a:rPr>
                        <a:t>–</a:t>
                      </a:r>
                      <a:r>
                        <a:rPr lang="en-US" sz="1200" spc="-20" dirty="0">
                          <a:latin typeface="Gotham Book"/>
                          <a:cs typeface="Calibri"/>
                        </a:rPr>
                        <a:t> </a:t>
                      </a:r>
                      <a:r>
                        <a:rPr lang="en-US" sz="1200" spc="-25" dirty="0">
                          <a:latin typeface="Gotham Book"/>
                          <a:cs typeface="Calibri"/>
                        </a:rPr>
                        <a:t>0.1</a:t>
                      </a:r>
                      <a:endParaRPr lang="en-US" sz="1200" dirty="0">
                        <a:latin typeface="Gotham Book"/>
                        <a:cs typeface="Calibri"/>
                      </a:endParaRPr>
                    </a:p>
                    <a:p>
                      <a:pPr marL="363855" indent="-286385">
                        <a:lnSpc>
                          <a:spcPct val="100000"/>
                        </a:lnSpc>
                        <a:buFont typeface="Wingdings" panose="05000000000000000000" pitchFamily="2" charset="2"/>
                        <a:buChar char="q"/>
                        <a:tabLst>
                          <a:tab pos="363855" algn="l"/>
                        </a:tabLst>
                      </a:pPr>
                      <a:r>
                        <a:rPr lang="en-US" sz="1200" spc="-10" dirty="0">
                          <a:latin typeface="Gotham Book"/>
                          <a:cs typeface="Calibri"/>
                        </a:rPr>
                        <a:t>max_depth</a:t>
                      </a:r>
                      <a:r>
                        <a:rPr lang="en-US" sz="1200" spc="-5" dirty="0">
                          <a:latin typeface="Gotham Book"/>
                          <a:cs typeface="Calibri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Calibri"/>
                        </a:rPr>
                        <a:t>–</a:t>
                      </a:r>
                      <a:r>
                        <a:rPr lang="en-US" sz="1200" spc="-25" dirty="0">
                          <a:latin typeface="Gotham Book"/>
                          <a:cs typeface="Calibri"/>
                        </a:rPr>
                        <a:t> 20</a:t>
                      </a:r>
                      <a:endParaRPr lang="en-US" sz="1200" dirty="0">
                        <a:latin typeface="Gotham Book"/>
                        <a:cs typeface="Calibri"/>
                      </a:endParaRPr>
                    </a:p>
                    <a:p>
                      <a:pPr marL="363855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Wingdings" panose="05000000000000000000" pitchFamily="2" charset="2"/>
                        <a:buChar char="q"/>
                        <a:tabLst>
                          <a:tab pos="363855" algn="l"/>
                        </a:tabLst>
                      </a:pPr>
                      <a:r>
                        <a:rPr lang="en-US" sz="1200" spc="-10" dirty="0">
                          <a:latin typeface="Gotham Book"/>
                          <a:cs typeface="Calibri"/>
                        </a:rPr>
                        <a:t>n_estimators</a:t>
                      </a:r>
                      <a:r>
                        <a:rPr lang="en-US" sz="1200" spc="-20" dirty="0">
                          <a:latin typeface="Gotham Book"/>
                          <a:cs typeface="Calibri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Calibri"/>
                        </a:rPr>
                        <a:t>–</a:t>
                      </a:r>
                      <a:r>
                        <a:rPr lang="en-US" sz="1200" spc="-10" dirty="0">
                          <a:latin typeface="Gotham Book"/>
                          <a:cs typeface="Calibri"/>
                        </a:rPr>
                        <a:t> </a:t>
                      </a:r>
                      <a:r>
                        <a:rPr lang="en-US" sz="1200" spc="-25" dirty="0">
                          <a:latin typeface="Gotham Book"/>
                          <a:cs typeface="Calibri"/>
                        </a:rPr>
                        <a:t>100</a:t>
                      </a:r>
                      <a:endParaRPr lang="en-US" sz="1200" dirty="0">
                        <a:latin typeface="Gotham Book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05251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B49F2F-A8A9-04BF-0E8E-4E58CBB87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715978"/>
              </p:ext>
            </p:extLst>
          </p:nvPr>
        </p:nvGraphicFramePr>
        <p:xfrm>
          <a:off x="275333" y="1591978"/>
          <a:ext cx="6118499" cy="2940579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2491171"/>
                    </a:ext>
                  </a:extLst>
                </a:gridCol>
                <a:gridCol w="2386330">
                  <a:extLst>
                    <a:ext uri="{9D8B030D-6E8A-4147-A177-3AD203B41FA5}">
                      <a16:colId xmlns:a16="http://schemas.microsoft.com/office/drawing/2014/main" val="3389001321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3333455421"/>
                    </a:ext>
                  </a:extLst>
                </a:gridCol>
                <a:gridCol w="782955">
                  <a:extLst>
                    <a:ext uri="{9D8B030D-6E8A-4147-A177-3AD203B41FA5}">
                      <a16:colId xmlns:a16="http://schemas.microsoft.com/office/drawing/2014/main" val="1902839111"/>
                    </a:ext>
                  </a:extLst>
                </a:gridCol>
                <a:gridCol w="625792">
                  <a:extLst>
                    <a:ext uri="{9D8B030D-6E8A-4147-A177-3AD203B41FA5}">
                      <a16:colId xmlns:a16="http://schemas.microsoft.com/office/drawing/2014/main" val="1343142758"/>
                    </a:ext>
                  </a:extLst>
                </a:gridCol>
                <a:gridCol w="601937">
                  <a:extLst>
                    <a:ext uri="{9D8B030D-6E8A-4147-A177-3AD203B41FA5}">
                      <a16:colId xmlns:a16="http://schemas.microsoft.com/office/drawing/2014/main" val="1718248602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Model Name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MAE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R2 Score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9751139"/>
                  </a:ext>
                </a:extLst>
              </a:tr>
              <a:tr h="288819">
                <a:tc vMerge="1">
                  <a:txBody>
                    <a:bodyPr/>
                    <a:lstStyle/>
                    <a:p>
                      <a:pPr algn="ctr"/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Train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Test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Train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Test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491488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Baseline </a:t>
                      </a:r>
                    </a:p>
                    <a:p>
                      <a:pPr algn="ctr"/>
                      <a:r>
                        <a:rPr lang="en-US" sz="1100" dirty="0">
                          <a:latin typeface="Gotham Book" pitchFamily="50" charset="0"/>
                          <a:cs typeface="Gotham Book" pitchFamily="50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Linear Regression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8.37 Cal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8.29 Cal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0.965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0.969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8087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Random Forest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0.66 Cal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1.79 Cal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0.999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0.998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2215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Gris</a:t>
                      </a:r>
                    </a:p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Search</a:t>
                      </a:r>
                    </a:p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CV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LGBM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1.01 Cal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1.60 Cal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0.995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0.998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52170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XGBoost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0.00 Cal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2.23 Cal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1.000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0.997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520923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KNN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4.20 Cal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5.29 Cal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0.990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0.986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436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Ensemble</a:t>
                      </a:r>
                    </a:p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Model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otham Book" pitchFamily="50" charset="0"/>
                          <a:cs typeface="Gotham Book" pitchFamily="50" charset="0"/>
                        </a:rPr>
                        <a:t>Averaging of XGBoost &amp; LGBM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0.50 Cal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1.49 Cal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0.999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Gotham Book" pitchFamily="50" charset="0"/>
                          <a:cs typeface="Gotham Book" pitchFamily="50" charset="0"/>
                        </a:rPr>
                        <a:t>0.998</a:t>
                      </a:r>
                      <a:endParaRPr lang="en-US" sz="1100" dirty="0">
                        <a:latin typeface="Gotham Book" pitchFamily="50" charset="0"/>
                        <a:cs typeface="Gotham Book" pitchFamily="50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771610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B6D5DD0A-D10B-2038-1946-0DB5AB868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369" y="1591978"/>
            <a:ext cx="4892298" cy="487219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29835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A418E-99B1-4FCC-D39E-BD218E0B6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F60EEC-7DFF-59C8-286D-8AF93691C741}"/>
              </a:ext>
            </a:extLst>
          </p:cNvPr>
          <p:cNvCxnSpPr>
            <a:cxnSpLocks/>
          </p:cNvCxnSpPr>
          <p:nvPr/>
        </p:nvCxnSpPr>
        <p:spPr>
          <a:xfrm>
            <a:off x="0" y="869577"/>
            <a:ext cx="12192000" cy="0"/>
          </a:xfrm>
          <a:prstGeom prst="line">
            <a:avLst/>
          </a:prstGeom>
          <a:ln w="19050">
            <a:solidFill>
              <a:srgbClr val="862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08B85EC-33B7-6357-4947-BC928C1A7F50}"/>
              </a:ext>
            </a:extLst>
          </p:cNvPr>
          <p:cNvSpPr/>
          <p:nvPr/>
        </p:nvSpPr>
        <p:spPr>
          <a:xfrm>
            <a:off x="161368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Objective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101B512A-B5CB-B3BC-A8D1-E80241A68ACE}"/>
              </a:ext>
            </a:extLst>
          </p:cNvPr>
          <p:cNvSpPr/>
          <p:nvPr/>
        </p:nvSpPr>
        <p:spPr>
          <a:xfrm>
            <a:off x="2192770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Approach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9B4633FE-A910-05D8-C156-773C402EBB05}"/>
              </a:ext>
            </a:extLst>
          </p:cNvPr>
          <p:cNvSpPr/>
          <p:nvPr/>
        </p:nvSpPr>
        <p:spPr>
          <a:xfrm>
            <a:off x="10318377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Reference &amp; Comments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3E05B71A-1465-3476-0234-4D469EE1BD06}"/>
              </a:ext>
            </a:extLst>
          </p:cNvPr>
          <p:cNvSpPr/>
          <p:nvPr/>
        </p:nvSpPr>
        <p:spPr>
          <a:xfrm>
            <a:off x="4224172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Model Summary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C450BC2F-65C0-5038-6435-62C25B5E39DB}"/>
              </a:ext>
            </a:extLst>
          </p:cNvPr>
          <p:cNvSpPr/>
          <p:nvPr/>
        </p:nvSpPr>
        <p:spPr>
          <a:xfrm>
            <a:off x="6239829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rgbClr val="862F36"/>
                </a:solidFill>
                <a:latin typeface="Gotham Book" pitchFamily="50" charset="0"/>
              </a:rPr>
              <a:t>Results</a:t>
            </a:r>
            <a:endParaRPr lang="en-US" sz="1600" dirty="0">
              <a:solidFill>
                <a:srgbClr val="862F36"/>
              </a:solidFill>
              <a:latin typeface="Gotham Book" pitchFamily="50" charset="0"/>
            </a:endParaRPr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3FD18A2D-F566-740B-3802-65BC3AF9B1DB}"/>
              </a:ext>
            </a:extLst>
          </p:cNvPr>
          <p:cNvSpPr/>
          <p:nvPr/>
        </p:nvSpPr>
        <p:spPr>
          <a:xfrm>
            <a:off x="8286973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Gotham Book" pitchFamily="50" charset="0"/>
              </a:rPr>
              <a:t>Inference</a:t>
            </a:r>
            <a:endParaRPr lang="en-US" dirty="0">
              <a:latin typeface="Gotham Book" pitchFamily="50" charset="0"/>
            </a:endParaRPr>
          </a:p>
        </p:txBody>
      </p:sp>
      <p:sp>
        <p:nvSpPr>
          <p:cNvPr id="22" name="Rectangle: Diagonal Corners Snipped 21">
            <a:extLst>
              <a:ext uri="{FF2B5EF4-FFF2-40B4-BE49-F238E27FC236}">
                <a16:creationId xmlns:a16="http://schemas.microsoft.com/office/drawing/2014/main" id="{64403B39-2740-DA1B-A372-37D941721720}"/>
              </a:ext>
            </a:extLst>
          </p:cNvPr>
          <p:cNvSpPr/>
          <p:nvPr/>
        </p:nvSpPr>
        <p:spPr>
          <a:xfrm>
            <a:off x="631128" y="1013014"/>
            <a:ext cx="4851284" cy="345139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 Book" pitchFamily="50" charset="0"/>
                <a:cs typeface="Gotham Book" pitchFamily="50" charset="0"/>
              </a:rPr>
              <a:t>Shapely Summary Plot of Features</a:t>
            </a:r>
            <a:endParaRPr lang="en-US" sz="1200" dirty="0"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60942796-193F-48C5-57DA-C23074BAF0EB}"/>
              </a:ext>
            </a:extLst>
          </p:cNvPr>
          <p:cNvSpPr/>
          <p:nvPr/>
        </p:nvSpPr>
        <p:spPr>
          <a:xfrm>
            <a:off x="6353491" y="1013014"/>
            <a:ext cx="5594963" cy="345139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 Book" pitchFamily="50" charset="0"/>
                <a:cs typeface="Gotham Book" pitchFamily="50" charset="0"/>
              </a:rPr>
              <a:t>Feature Importance – Bar Plot</a:t>
            </a:r>
            <a:endParaRPr lang="en-US" sz="1200" dirty="0">
              <a:latin typeface="Gotham Book" pitchFamily="50" charset="0"/>
              <a:cs typeface="Gotham Book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2EA018-9049-FE6F-112E-8FF50612A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491" y="1523883"/>
            <a:ext cx="5400000" cy="493992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466126-05D6-C99F-E489-DE9AAA3D8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85" y="1523883"/>
            <a:ext cx="5400000" cy="493992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73221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DBBAA-6E83-F52B-266A-CE028BCC7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76F6A8-B143-8EDD-9931-9C60B69B7F2B}"/>
              </a:ext>
            </a:extLst>
          </p:cNvPr>
          <p:cNvCxnSpPr>
            <a:cxnSpLocks/>
          </p:cNvCxnSpPr>
          <p:nvPr/>
        </p:nvCxnSpPr>
        <p:spPr>
          <a:xfrm>
            <a:off x="0" y="869577"/>
            <a:ext cx="12192000" cy="0"/>
          </a:xfrm>
          <a:prstGeom prst="line">
            <a:avLst/>
          </a:prstGeom>
          <a:ln w="19050">
            <a:solidFill>
              <a:srgbClr val="862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3A94E328-2A1E-39EE-0FCD-0085AE055419}"/>
              </a:ext>
            </a:extLst>
          </p:cNvPr>
          <p:cNvSpPr/>
          <p:nvPr/>
        </p:nvSpPr>
        <p:spPr>
          <a:xfrm>
            <a:off x="161368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Objective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C3BE825-00ED-AEB9-0C30-9474D0B32760}"/>
              </a:ext>
            </a:extLst>
          </p:cNvPr>
          <p:cNvSpPr/>
          <p:nvPr/>
        </p:nvSpPr>
        <p:spPr>
          <a:xfrm>
            <a:off x="2192770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Approach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A788276B-B26B-6054-7E86-512257D79010}"/>
              </a:ext>
            </a:extLst>
          </p:cNvPr>
          <p:cNvSpPr/>
          <p:nvPr/>
        </p:nvSpPr>
        <p:spPr>
          <a:xfrm>
            <a:off x="10318377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Reference &amp; Comments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073E0B74-B319-2424-40B2-2D09EA3F5EFD}"/>
              </a:ext>
            </a:extLst>
          </p:cNvPr>
          <p:cNvSpPr/>
          <p:nvPr/>
        </p:nvSpPr>
        <p:spPr>
          <a:xfrm>
            <a:off x="4224172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Model Summary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87BDBEC7-1430-9F62-2F42-9E0DA65467F8}"/>
              </a:ext>
            </a:extLst>
          </p:cNvPr>
          <p:cNvSpPr/>
          <p:nvPr/>
        </p:nvSpPr>
        <p:spPr>
          <a:xfrm>
            <a:off x="6239829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rgbClr val="862F36"/>
                </a:solidFill>
                <a:latin typeface="Gotham Book" pitchFamily="50" charset="0"/>
              </a:rPr>
              <a:t>Results</a:t>
            </a:r>
            <a:endParaRPr lang="en-US" sz="1600" dirty="0">
              <a:solidFill>
                <a:srgbClr val="862F36"/>
              </a:solidFill>
              <a:latin typeface="Gotham Book" pitchFamily="50" charset="0"/>
            </a:endParaRPr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4843C579-B192-843F-50F6-6AD0ED631EC6}"/>
              </a:ext>
            </a:extLst>
          </p:cNvPr>
          <p:cNvSpPr/>
          <p:nvPr/>
        </p:nvSpPr>
        <p:spPr>
          <a:xfrm>
            <a:off x="8286973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Gotham Book" pitchFamily="50" charset="0"/>
              </a:rPr>
              <a:t>Inference</a:t>
            </a:r>
            <a:endParaRPr lang="en-US" dirty="0">
              <a:latin typeface="Gotham Book" pitchFamily="50" charset="0"/>
            </a:endParaRPr>
          </a:p>
        </p:txBody>
      </p:sp>
      <p:sp>
        <p:nvSpPr>
          <p:cNvPr id="22" name="Rectangle: Diagonal Corners Snipped 21">
            <a:extLst>
              <a:ext uri="{FF2B5EF4-FFF2-40B4-BE49-F238E27FC236}">
                <a16:creationId xmlns:a16="http://schemas.microsoft.com/office/drawing/2014/main" id="{8DEF0B05-55CF-C17C-F17E-B4953BC81A9E}"/>
              </a:ext>
            </a:extLst>
          </p:cNvPr>
          <p:cNvSpPr/>
          <p:nvPr/>
        </p:nvSpPr>
        <p:spPr>
          <a:xfrm>
            <a:off x="294850" y="1099939"/>
            <a:ext cx="6975526" cy="345139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 Book" pitchFamily="50" charset="0"/>
                <a:cs typeface="Gotham Book" pitchFamily="50" charset="0"/>
              </a:rPr>
              <a:t>Impact on Features on Final Output for 1 Instance</a:t>
            </a:r>
            <a:endParaRPr lang="en-US" sz="1200" dirty="0">
              <a:latin typeface="Gotham Book" pitchFamily="50" charset="0"/>
              <a:cs typeface="Gotham Book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97D27A-A169-6360-A929-6837ADEAF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50" y="1866246"/>
            <a:ext cx="6975526" cy="448075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5FC2A61E-C547-8AC4-FB30-0F233C72B5A1}"/>
              </a:ext>
            </a:extLst>
          </p:cNvPr>
          <p:cNvSpPr/>
          <p:nvPr/>
        </p:nvSpPr>
        <p:spPr>
          <a:xfrm>
            <a:off x="8286973" y="1910669"/>
            <a:ext cx="3389465" cy="2667956"/>
          </a:xfrm>
          <a:prstGeom prst="snip2DiagRect">
            <a:avLst>
              <a:gd name="adj1" fmla="val 0"/>
              <a:gd name="adj2" fmla="val 5294"/>
            </a:avLst>
          </a:prstGeom>
          <a:noFill/>
          <a:ln w="19050">
            <a:solidFill>
              <a:srgbClr val="862F3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Gender (0 for Male, 1 for Female):  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Age:  68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Height (in cm):  190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Weight (in kg):  94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Exercise Duration (in minutes):  29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Heart Rate:  105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Body Temperature (in °C):  40.8</a:t>
            </a:r>
          </a:p>
        </p:txBody>
      </p:sp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C1066AD0-A1DA-6041-F82C-333843AE867F}"/>
              </a:ext>
            </a:extLst>
          </p:cNvPr>
          <p:cNvSpPr/>
          <p:nvPr/>
        </p:nvSpPr>
        <p:spPr>
          <a:xfrm>
            <a:off x="8286972" y="5509806"/>
            <a:ext cx="3389465" cy="345139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 Book" pitchFamily="50" charset="0"/>
                <a:cs typeface="Gotham Book" pitchFamily="50" charset="0"/>
              </a:rPr>
              <a:t>Predicted Calories Burned = 232.55 Cal</a:t>
            </a:r>
            <a:endParaRPr lang="en-US" sz="1200" dirty="0"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3" name="Rectangle: Diagonal Corners Snipped 12">
            <a:extLst>
              <a:ext uri="{FF2B5EF4-FFF2-40B4-BE49-F238E27FC236}">
                <a16:creationId xmlns:a16="http://schemas.microsoft.com/office/drawing/2014/main" id="{38C10905-D93A-A641-B0FB-3397C740371F}"/>
              </a:ext>
            </a:extLst>
          </p:cNvPr>
          <p:cNvSpPr/>
          <p:nvPr/>
        </p:nvSpPr>
        <p:spPr>
          <a:xfrm>
            <a:off x="8286972" y="4871646"/>
            <a:ext cx="3389465" cy="345139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 Book" pitchFamily="50" charset="0"/>
                <a:cs typeface="Gotham Book" pitchFamily="50" charset="0"/>
              </a:rPr>
              <a:t>Actual Calories Burned = 231.0 Cal </a:t>
            </a:r>
            <a:endParaRPr lang="en-US" sz="1200" dirty="0"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4" name="Rectangle: Diagonal Corners Snipped 13">
            <a:extLst>
              <a:ext uri="{FF2B5EF4-FFF2-40B4-BE49-F238E27FC236}">
                <a16:creationId xmlns:a16="http://schemas.microsoft.com/office/drawing/2014/main" id="{54DC65B1-8831-D508-D660-DB73A309143A}"/>
              </a:ext>
            </a:extLst>
          </p:cNvPr>
          <p:cNvSpPr/>
          <p:nvPr/>
        </p:nvSpPr>
        <p:spPr>
          <a:xfrm>
            <a:off x="8354644" y="1099939"/>
            <a:ext cx="3177190" cy="345139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Gotham Book" pitchFamily="50" charset="0"/>
                <a:cs typeface="Gotham Book" pitchFamily="50" charset="0"/>
              </a:rPr>
              <a:t>Model Prediction</a:t>
            </a:r>
            <a:endParaRPr lang="en-US" sz="1200" dirty="0">
              <a:latin typeface="Gotham Book" pitchFamily="50" charset="0"/>
              <a:cs typeface="Gotham Boo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459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68365-0803-39AE-4A71-5F2536A38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11D911-A236-60CB-708A-646F3711115B}"/>
              </a:ext>
            </a:extLst>
          </p:cNvPr>
          <p:cNvCxnSpPr>
            <a:cxnSpLocks/>
          </p:cNvCxnSpPr>
          <p:nvPr/>
        </p:nvCxnSpPr>
        <p:spPr>
          <a:xfrm>
            <a:off x="0" y="869577"/>
            <a:ext cx="12192000" cy="0"/>
          </a:xfrm>
          <a:prstGeom prst="line">
            <a:avLst/>
          </a:prstGeom>
          <a:ln w="19050">
            <a:solidFill>
              <a:srgbClr val="862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E2E88AC1-2DCA-2016-12CE-18369880426D}"/>
              </a:ext>
            </a:extLst>
          </p:cNvPr>
          <p:cNvSpPr/>
          <p:nvPr/>
        </p:nvSpPr>
        <p:spPr>
          <a:xfrm>
            <a:off x="161368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Objective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C6E69403-921A-E4AD-FB55-B391499BD196}"/>
              </a:ext>
            </a:extLst>
          </p:cNvPr>
          <p:cNvSpPr/>
          <p:nvPr/>
        </p:nvSpPr>
        <p:spPr>
          <a:xfrm>
            <a:off x="2192770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Approach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E97D1790-AB04-A16B-3FD1-08CCEE04E19F}"/>
              </a:ext>
            </a:extLst>
          </p:cNvPr>
          <p:cNvSpPr/>
          <p:nvPr/>
        </p:nvSpPr>
        <p:spPr>
          <a:xfrm>
            <a:off x="10318377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862F36">
                  <a:shade val="30000"/>
                  <a:satMod val="115000"/>
                </a:srgbClr>
              </a:gs>
              <a:gs pos="50000">
                <a:srgbClr val="862F36">
                  <a:shade val="67500"/>
                  <a:satMod val="115000"/>
                </a:srgbClr>
              </a:gs>
              <a:gs pos="100000">
                <a:srgbClr val="862F36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Gotham Book" pitchFamily="50" charset="0"/>
              </a:rPr>
              <a:t>Reference &amp; Comments</a:t>
            </a:r>
            <a:endParaRPr lang="en-US" dirty="0">
              <a:latin typeface="Gotham Book" pitchFamily="50" charset="0"/>
            </a:endParaRP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3F2DC923-D7A1-941B-AC37-3E6CC38C8413}"/>
              </a:ext>
            </a:extLst>
          </p:cNvPr>
          <p:cNvSpPr/>
          <p:nvPr/>
        </p:nvSpPr>
        <p:spPr>
          <a:xfrm>
            <a:off x="4224172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  <a:cs typeface="Gotham Book" pitchFamily="50" charset="0"/>
              </a:rPr>
              <a:t>Model Summary</a:t>
            </a:r>
            <a:endParaRPr lang="en-US" sz="1600" dirty="0">
              <a:solidFill>
                <a:srgbClr val="862F36"/>
              </a:solidFill>
              <a:latin typeface="Gotham Book" pitchFamily="50" charset="0"/>
              <a:cs typeface="Gotham Book" pitchFamily="50" charset="0"/>
            </a:endParaRPr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2DA471C8-B5CC-B674-9FC9-7A8454E583F5}"/>
              </a:ext>
            </a:extLst>
          </p:cNvPr>
          <p:cNvSpPr/>
          <p:nvPr/>
        </p:nvSpPr>
        <p:spPr>
          <a:xfrm>
            <a:off x="6239829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rgbClr val="862F36"/>
                </a:solidFill>
                <a:latin typeface="Gotham Book" pitchFamily="50" charset="0"/>
              </a:rPr>
              <a:t>Results</a:t>
            </a:r>
            <a:endParaRPr lang="en-US" sz="1600" dirty="0">
              <a:solidFill>
                <a:srgbClr val="862F36"/>
              </a:solidFill>
              <a:latin typeface="Gotham Book" pitchFamily="50" charset="0"/>
            </a:endParaRPr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CEE549E9-EC9A-4EB8-2228-D01054F28E5D}"/>
              </a:ext>
            </a:extLst>
          </p:cNvPr>
          <p:cNvSpPr/>
          <p:nvPr/>
        </p:nvSpPr>
        <p:spPr>
          <a:xfrm>
            <a:off x="8286973" y="103094"/>
            <a:ext cx="1728000" cy="623047"/>
          </a:xfrm>
          <a:prstGeom prst="snip2DiagRect">
            <a:avLst/>
          </a:prstGeom>
          <a:gradFill flip="none" rotWithShape="1">
            <a:gsLst>
              <a:gs pos="0">
                <a:srgbClr val="F9A716">
                  <a:tint val="66000"/>
                  <a:satMod val="160000"/>
                </a:srgbClr>
              </a:gs>
              <a:gs pos="50000">
                <a:srgbClr val="F9A716">
                  <a:tint val="44500"/>
                  <a:satMod val="160000"/>
                </a:srgbClr>
              </a:gs>
              <a:gs pos="100000">
                <a:srgbClr val="F9A716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862F36"/>
                </a:solidFill>
                <a:latin typeface="Gotham Book" pitchFamily="50" charset="0"/>
              </a:rPr>
              <a:t>Inference</a:t>
            </a:r>
            <a:endParaRPr lang="en-US" sz="1600" dirty="0">
              <a:solidFill>
                <a:srgbClr val="862F36"/>
              </a:solidFill>
              <a:latin typeface="Gotham Book" pitchFamily="50" charset="0"/>
            </a:endParaRPr>
          </a:p>
        </p:txBody>
      </p:sp>
      <p:sp>
        <p:nvSpPr>
          <p:cNvPr id="24" name="object 27">
            <a:extLst>
              <a:ext uri="{FF2B5EF4-FFF2-40B4-BE49-F238E27FC236}">
                <a16:creationId xmlns:a16="http://schemas.microsoft.com/office/drawing/2014/main" id="{421381AD-44AE-6ED1-0A31-DFBC1F28C431}"/>
              </a:ext>
            </a:extLst>
          </p:cNvPr>
          <p:cNvSpPr txBox="1"/>
          <p:nvPr/>
        </p:nvSpPr>
        <p:spPr>
          <a:xfrm>
            <a:off x="6067586" y="1073478"/>
            <a:ext cx="17399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31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2200" dirty="0">
              <a:latin typeface="Arial Black"/>
              <a:cs typeface="Arial Black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874D43E-4AC5-5027-3862-DC07EB931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473877"/>
              </p:ext>
            </p:extLst>
          </p:nvPr>
        </p:nvGraphicFramePr>
        <p:xfrm>
          <a:off x="1019378" y="1056977"/>
          <a:ext cx="4511459" cy="3960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1459">
                  <a:extLst>
                    <a:ext uri="{9D8B030D-6E8A-4147-A177-3AD203B41FA5}">
                      <a16:colId xmlns:a16="http://schemas.microsoft.com/office/drawing/2014/main" val="2892725550"/>
                    </a:ext>
                  </a:extLst>
                </a:gridCol>
              </a:tblGrid>
              <a:tr h="3717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N" sz="1200" b="1" spc="0" dirty="0">
                          <a:solidFill>
                            <a:srgbClr val="FFFFFF"/>
                          </a:solidFill>
                          <a:latin typeface="Gotham Book"/>
                          <a:cs typeface="Calibri"/>
                        </a:rPr>
                        <a:t>REFERENCES</a:t>
                      </a:r>
                      <a:endParaRPr lang="en-IN" sz="1200" spc="0" dirty="0">
                        <a:latin typeface="Gotham Book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C2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844675"/>
                  </a:ext>
                </a:extLst>
              </a:tr>
              <a:tr h="605407">
                <a:tc>
                  <a:txBody>
                    <a:bodyPr/>
                    <a:lstStyle/>
                    <a:p>
                      <a:pPr marL="2413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925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200" b="1" spc="0" dirty="0">
                          <a:latin typeface="Gotham Book"/>
                          <a:cs typeface="Arial Black"/>
                        </a:rPr>
                        <a:t>Code &amp; Dataset Link : </a:t>
                      </a:r>
                      <a:r>
                        <a:rPr lang="en-IN" sz="1200" b="1" spc="0" dirty="0">
                          <a:latin typeface="Gotham Book"/>
                          <a:cs typeface="Arial Black"/>
                          <a:hlinkClick r:id="rId2"/>
                        </a:rPr>
                        <a:t>https://github.com/Roopam-Ambekar/IIT_Roorkee_CloudxLab_-Capstone_Project_Calories_Burned_Prediction</a:t>
                      </a:r>
                      <a:endParaRPr lang="en-IN" sz="1200" b="1" spc="0" dirty="0">
                        <a:latin typeface="Gotham Book"/>
                        <a:cs typeface="Arial Black"/>
                      </a:endParaRPr>
                    </a:p>
                    <a:p>
                      <a:pPr marL="2413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925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200" b="1" spc="0" dirty="0">
                          <a:latin typeface="Gotham Book"/>
                          <a:cs typeface="Arial Black"/>
                        </a:rPr>
                        <a:t>Dataset source: </a:t>
                      </a:r>
                      <a:r>
                        <a:rPr lang="en-IN" sz="1200" b="1" spc="0" dirty="0">
                          <a:latin typeface="Gotham Book"/>
                          <a:cs typeface="Arial Black"/>
                          <a:hlinkClick r:id="rId3"/>
                        </a:rPr>
                        <a:t>https://www.kaggle.com/datasets/fmendes/fmendesdat263xdemos</a:t>
                      </a:r>
                      <a:endParaRPr lang="en-US" sz="1200" dirty="0">
                        <a:latin typeface="Gotham Book"/>
                        <a:cs typeface="Arial"/>
                      </a:endParaRPr>
                    </a:p>
                    <a:p>
                      <a:pPr marL="2413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925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00" dirty="0">
                          <a:latin typeface="Gotham Book"/>
                          <a:cs typeface="Arial"/>
                        </a:rPr>
                        <a:t>Hands-On</a:t>
                      </a:r>
                      <a:r>
                        <a:rPr lang="en-US" sz="1200" spc="14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Machine</a:t>
                      </a:r>
                      <a:r>
                        <a:rPr lang="en-US" sz="1200" spc="13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Learning</a:t>
                      </a:r>
                      <a:r>
                        <a:rPr lang="en-US" sz="1200" spc="12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75" dirty="0">
                          <a:latin typeface="Gotham Book"/>
                          <a:cs typeface="Arial"/>
                        </a:rPr>
                        <a:t>with</a:t>
                      </a:r>
                      <a:r>
                        <a:rPr lang="en-US" sz="1200" spc="17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Scikit-</a:t>
                      </a:r>
                      <a:r>
                        <a:rPr lang="en-US" sz="1200" spc="-10" dirty="0">
                          <a:latin typeface="Gotham Book"/>
                          <a:cs typeface="Arial"/>
                        </a:rPr>
                        <a:t>Learn, </a:t>
                      </a:r>
                      <a:r>
                        <a:rPr lang="en-US" sz="1200" spc="-10" dirty="0" err="1">
                          <a:latin typeface="Gotham Book"/>
                          <a:cs typeface="Arial"/>
                        </a:rPr>
                        <a:t>Keras</a:t>
                      </a:r>
                      <a:r>
                        <a:rPr lang="en-US" sz="1200" spc="-10" dirty="0">
                          <a:latin typeface="Gotham Book"/>
                          <a:cs typeface="Arial"/>
                        </a:rPr>
                        <a:t>,</a:t>
                      </a:r>
                      <a:r>
                        <a:rPr lang="en-US" sz="1200" spc="4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50" dirty="0">
                          <a:latin typeface="Gotham Book"/>
                          <a:cs typeface="Arial"/>
                        </a:rPr>
                        <a:t>and</a:t>
                      </a:r>
                      <a:r>
                        <a:rPr lang="en-US" sz="1200" spc="10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 err="1">
                          <a:latin typeface="Gotham Book"/>
                          <a:cs typeface="Arial"/>
                        </a:rPr>
                        <a:t>Tensorflow</a:t>
                      </a:r>
                      <a:r>
                        <a:rPr lang="en-US" sz="1200" spc="5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-</a:t>
                      </a:r>
                      <a:r>
                        <a:rPr lang="en-US" sz="1200" spc="8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Aurelien</a:t>
                      </a:r>
                      <a:r>
                        <a:rPr lang="en-US" sz="1200" spc="6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-20" dirty="0">
                          <a:latin typeface="Gotham Book"/>
                          <a:cs typeface="Arial"/>
                        </a:rPr>
                        <a:t>Geron</a:t>
                      </a:r>
                      <a:endParaRPr lang="en-US" sz="1200" dirty="0">
                        <a:latin typeface="Gotham Book"/>
                        <a:cs typeface="Arial"/>
                      </a:endParaRPr>
                    </a:p>
                    <a:p>
                      <a:pPr marL="2413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925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00" b="1" dirty="0">
                          <a:latin typeface="Gotham Book"/>
                          <a:cs typeface="Arial"/>
                        </a:rPr>
                        <a:t>Chen,</a:t>
                      </a:r>
                      <a:r>
                        <a:rPr lang="en-US" sz="1200" b="1" spc="-1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b="1" spc="-85" dirty="0">
                          <a:latin typeface="Gotham Book"/>
                          <a:cs typeface="Arial"/>
                        </a:rPr>
                        <a:t>T.,</a:t>
                      </a:r>
                      <a:r>
                        <a:rPr lang="en-US" sz="1200" b="1" spc="-1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b="1" spc="80" dirty="0">
                          <a:latin typeface="Gotham Book"/>
                          <a:cs typeface="Arial"/>
                        </a:rPr>
                        <a:t>&amp;</a:t>
                      </a:r>
                      <a:r>
                        <a:rPr lang="en-US" sz="1200" b="1" spc="-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b="1" dirty="0" err="1">
                          <a:latin typeface="Gotham Book"/>
                          <a:cs typeface="Arial"/>
                        </a:rPr>
                        <a:t>Guestrin</a:t>
                      </a:r>
                      <a:r>
                        <a:rPr lang="en-US" sz="1200" b="1" dirty="0">
                          <a:latin typeface="Gotham Book"/>
                          <a:cs typeface="Arial"/>
                        </a:rPr>
                        <a:t>,</a:t>
                      </a:r>
                      <a:r>
                        <a:rPr lang="en-US" sz="1200" b="1" spc="-1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b="1" spc="-80" dirty="0">
                          <a:latin typeface="Gotham Book"/>
                          <a:cs typeface="Arial"/>
                        </a:rPr>
                        <a:t>C.</a:t>
                      </a:r>
                      <a:r>
                        <a:rPr lang="en-US" sz="1200" b="1" spc="-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b="1" dirty="0">
                          <a:latin typeface="Gotham Book"/>
                          <a:cs typeface="Arial"/>
                        </a:rPr>
                        <a:t>(2016).</a:t>
                      </a:r>
                      <a:r>
                        <a:rPr lang="en-US" sz="1200" b="1" spc="-3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b="1" spc="-10" dirty="0">
                          <a:latin typeface="Gotham Book"/>
                          <a:cs typeface="Arial"/>
                        </a:rPr>
                        <a:t>XGBoost:</a:t>
                      </a:r>
                      <a:r>
                        <a:rPr lang="en-US" sz="1200" b="1" spc="-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A</a:t>
                      </a:r>
                      <a:r>
                        <a:rPr lang="en-US" sz="1200" spc="-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-10" dirty="0">
                          <a:latin typeface="Gotham Book"/>
                          <a:cs typeface="Arial"/>
                        </a:rPr>
                        <a:t>Scalable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Tree</a:t>
                      </a:r>
                      <a:r>
                        <a:rPr lang="en-US" sz="1200" spc="3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Boosting</a:t>
                      </a:r>
                      <a:r>
                        <a:rPr lang="en-US" sz="1200" spc="1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System.</a:t>
                      </a:r>
                      <a:r>
                        <a:rPr lang="en-US" sz="1200" spc="2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In</a:t>
                      </a:r>
                      <a:r>
                        <a:rPr lang="en-US" sz="1200" spc="5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Proceedings</a:t>
                      </a:r>
                      <a:r>
                        <a:rPr lang="en-US" sz="1200" spc="-1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75" dirty="0">
                          <a:latin typeface="Gotham Book"/>
                          <a:cs typeface="Arial"/>
                        </a:rPr>
                        <a:t>of</a:t>
                      </a:r>
                      <a:r>
                        <a:rPr lang="en-US" sz="1200" spc="5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60" dirty="0">
                          <a:latin typeface="Gotham Book"/>
                          <a:cs typeface="Arial"/>
                        </a:rPr>
                        <a:t>the</a:t>
                      </a:r>
                      <a:r>
                        <a:rPr lang="en-US" sz="1200" spc="5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30" dirty="0">
                          <a:latin typeface="Gotham Book"/>
                          <a:cs typeface="Arial"/>
                        </a:rPr>
                        <a:t>22nd </a:t>
                      </a:r>
                      <a:r>
                        <a:rPr lang="en-US" sz="1200" spc="-25" dirty="0">
                          <a:latin typeface="Gotham Book"/>
                          <a:cs typeface="Arial"/>
                        </a:rPr>
                        <a:t>ACM</a:t>
                      </a:r>
                      <a:r>
                        <a:rPr lang="en-US" sz="1200" spc="3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-60" dirty="0">
                          <a:latin typeface="Gotham Book"/>
                          <a:cs typeface="Arial"/>
                        </a:rPr>
                        <a:t>SIGKDD</a:t>
                      </a:r>
                      <a:r>
                        <a:rPr lang="en-US" sz="1200" spc="3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55" dirty="0">
                          <a:latin typeface="Gotham Book"/>
                          <a:cs typeface="Arial"/>
                        </a:rPr>
                        <a:t>International</a:t>
                      </a:r>
                      <a:r>
                        <a:rPr lang="en-US" sz="1200" spc="1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Conference</a:t>
                      </a:r>
                      <a:r>
                        <a:rPr lang="en-US" sz="1200" spc="3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50" dirty="0">
                          <a:latin typeface="Gotham Book"/>
                          <a:cs typeface="Arial"/>
                        </a:rPr>
                        <a:t>on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Knowledge</a:t>
                      </a:r>
                      <a:r>
                        <a:rPr lang="en-US" sz="1200" spc="3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Discovery</a:t>
                      </a:r>
                      <a:r>
                        <a:rPr lang="en-US" sz="1200" spc="3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50" dirty="0">
                          <a:latin typeface="Gotham Book"/>
                          <a:cs typeface="Arial"/>
                        </a:rPr>
                        <a:t>and</a:t>
                      </a:r>
                      <a:r>
                        <a:rPr lang="en-US" sz="1200" spc="7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Data</a:t>
                      </a:r>
                      <a:r>
                        <a:rPr lang="en-US" sz="1200" spc="9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55" dirty="0">
                          <a:latin typeface="Gotham Book"/>
                          <a:cs typeface="Arial"/>
                        </a:rPr>
                        <a:t>Mining</a:t>
                      </a:r>
                      <a:r>
                        <a:rPr lang="en-US" sz="1200" spc="3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(pp.</a:t>
                      </a:r>
                      <a:r>
                        <a:rPr lang="en-US" sz="1200" spc="6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-20" dirty="0">
                          <a:latin typeface="Gotham Book"/>
                          <a:cs typeface="Arial"/>
                        </a:rPr>
                        <a:t>785– 794)</a:t>
                      </a:r>
                      <a:endParaRPr lang="en-US" sz="1200" dirty="0">
                        <a:latin typeface="Gotham Book"/>
                        <a:cs typeface="Arial"/>
                      </a:endParaRPr>
                    </a:p>
                    <a:p>
                      <a:pPr marL="2413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925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00" b="1" dirty="0" err="1">
                          <a:latin typeface="Gotham Book"/>
                          <a:cs typeface="Arial"/>
                        </a:rPr>
                        <a:t>LightGBM</a:t>
                      </a:r>
                      <a:r>
                        <a:rPr lang="en-US" sz="1200" b="1" dirty="0">
                          <a:latin typeface="Gotham Book"/>
                          <a:cs typeface="Arial"/>
                        </a:rPr>
                        <a:t>:</a:t>
                      </a:r>
                      <a:r>
                        <a:rPr lang="en-US" sz="1200" spc="13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A</a:t>
                      </a:r>
                      <a:r>
                        <a:rPr lang="en-US" sz="1200" spc="15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Highly</a:t>
                      </a:r>
                      <a:r>
                        <a:rPr lang="en-US" sz="1200" spc="114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Efficient</a:t>
                      </a:r>
                      <a:r>
                        <a:rPr lang="en-US" sz="1200" spc="9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Gradient</a:t>
                      </a:r>
                      <a:r>
                        <a:rPr lang="en-US" sz="1200" spc="13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-10" dirty="0">
                          <a:latin typeface="Gotham Book"/>
                          <a:cs typeface="Arial"/>
                        </a:rPr>
                        <a:t>Boosting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Decision</a:t>
                      </a:r>
                      <a:r>
                        <a:rPr lang="en-US" sz="1200" spc="14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-20" dirty="0">
                          <a:latin typeface="Gotham Book"/>
                          <a:cs typeface="Arial"/>
                        </a:rPr>
                        <a:t>Tree</a:t>
                      </a:r>
                    </a:p>
                    <a:p>
                      <a:pPr marL="2413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925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00" b="1" spc="10" dirty="0">
                          <a:latin typeface="Gotham Book"/>
                          <a:cs typeface="Arial"/>
                        </a:rPr>
                        <a:t>Ensemble</a:t>
                      </a:r>
                      <a:r>
                        <a:rPr lang="en-US" sz="1200" b="1" spc="3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b="1" spc="50" dirty="0">
                          <a:latin typeface="Gotham Book"/>
                          <a:cs typeface="Arial"/>
                        </a:rPr>
                        <a:t>Methods:</a:t>
                      </a:r>
                      <a:r>
                        <a:rPr lang="en-US" sz="1200" spc="7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10" dirty="0">
                          <a:latin typeface="Gotham Book"/>
                          <a:cs typeface="Arial"/>
                        </a:rPr>
                        <a:t>Foundations</a:t>
                      </a:r>
                      <a:r>
                        <a:rPr lang="en-US" sz="1200" spc="8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50" dirty="0">
                          <a:latin typeface="Gotham Book"/>
                          <a:cs typeface="Arial"/>
                        </a:rPr>
                        <a:t>and</a:t>
                      </a:r>
                      <a:r>
                        <a:rPr lang="en-US" sz="1200" spc="8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-10" dirty="0">
                          <a:latin typeface="Gotham Book"/>
                          <a:cs typeface="Arial"/>
                        </a:rPr>
                        <a:t>Algorithms</a:t>
                      </a:r>
                      <a:endParaRPr lang="en-US" sz="1200" dirty="0">
                        <a:latin typeface="Gotham Book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052515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0E0049A-81AF-E6AA-957B-8D57F5DC5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5809"/>
              </p:ext>
            </p:extLst>
          </p:nvPr>
        </p:nvGraphicFramePr>
        <p:xfrm>
          <a:off x="6661163" y="1073478"/>
          <a:ext cx="4511459" cy="39442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1459">
                  <a:extLst>
                    <a:ext uri="{9D8B030D-6E8A-4147-A177-3AD203B41FA5}">
                      <a16:colId xmlns:a16="http://schemas.microsoft.com/office/drawing/2014/main" val="2892725550"/>
                    </a:ext>
                  </a:extLst>
                </a:gridCol>
              </a:tblGrid>
              <a:tr h="4704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spc="-10" dirty="0">
                          <a:solidFill>
                            <a:srgbClr val="FFFFFF"/>
                          </a:solidFill>
                          <a:latin typeface="Gotham Book"/>
                          <a:cs typeface="Calibri"/>
                        </a:rPr>
                        <a:t>COMMENTS ON NEXT STEPS</a:t>
                      </a:r>
                      <a:endParaRPr lang="en-IN" sz="1200" dirty="0">
                        <a:latin typeface="Gotham Book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C2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844675"/>
                  </a:ext>
                </a:extLst>
              </a:tr>
              <a:tr h="3473864">
                <a:tc>
                  <a:txBody>
                    <a:bodyPr/>
                    <a:lstStyle/>
                    <a:p>
                      <a:pPr marL="1841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925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IN" sz="1200" b="1" spc="0" dirty="0">
                          <a:latin typeface="Gotham Book"/>
                          <a:cs typeface="Arial Black"/>
                        </a:rPr>
                        <a:t>Optuna for Hyperparameter Tuning:</a:t>
                      </a:r>
                    </a:p>
                    <a:p>
                      <a:pPr marL="6413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925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 dirty="0">
                          <a:latin typeface="Gotham Book"/>
                          <a:cs typeface="Arial"/>
                        </a:rPr>
                        <a:t>Use</a:t>
                      </a:r>
                      <a:r>
                        <a:rPr lang="en-US" sz="1200" spc="-4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55" dirty="0" err="1">
                          <a:latin typeface="Gotham Book"/>
                          <a:cs typeface="Arial"/>
                        </a:rPr>
                        <a:t>Optuna</a:t>
                      </a:r>
                      <a:r>
                        <a:rPr lang="en-US" sz="1200" spc="-2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85" dirty="0">
                          <a:latin typeface="Gotham Book"/>
                          <a:cs typeface="Arial"/>
                        </a:rPr>
                        <a:t>to</a:t>
                      </a:r>
                      <a:r>
                        <a:rPr lang="en-US" sz="1200" spc="-1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55" dirty="0">
                          <a:latin typeface="Gotham Book"/>
                          <a:cs typeface="Arial"/>
                        </a:rPr>
                        <a:t>optimize</a:t>
                      </a:r>
                      <a:r>
                        <a:rPr lang="en-US" sz="1200" spc="-6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60" dirty="0">
                          <a:latin typeface="Gotham Book"/>
                          <a:cs typeface="Arial"/>
                        </a:rPr>
                        <a:t>the</a:t>
                      </a:r>
                      <a:r>
                        <a:rPr lang="en-US" sz="1200" spc="-2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45" dirty="0">
                          <a:latin typeface="Gotham Book"/>
                          <a:cs typeface="Arial"/>
                        </a:rPr>
                        <a:t>hyperparameter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space</a:t>
                      </a:r>
                      <a:r>
                        <a:rPr lang="en-US" sz="1200" spc="6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75" dirty="0">
                          <a:latin typeface="Gotham Book"/>
                          <a:cs typeface="Arial"/>
                        </a:rPr>
                        <a:t>more</a:t>
                      </a:r>
                      <a:r>
                        <a:rPr lang="en-US" sz="1200" spc="5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efficiently</a:t>
                      </a:r>
                      <a:r>
                        <a:rPr lang="en-US" sz="1200" spc="8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65" dirty="0">
                          <a:latin typeface="Gotham Book"/>
                          <a:cs typeface="Arial"/>
                        </a:rPr>
                        <a:t>than</a:t>
                      </a:r>
                      <a:r>
                        <a:rPr lang="en-US" sz="1200" spc="5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Grid</a:t>
                      </a:r>
                      <a:r>
                        <a:rPr lang="en-US" sz="1200" spc="7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-10" dirty="0">
                          <a:latin typeface="Gotham Book"/>
                          <a:cs typeface="Arial"/>
                        </a:rPr>
                        <a:t>Search</a:t>
                      </a:r>
                      <a:r>
                        <a:rPr lang="en-US" sz="1200" spc="6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-25" dirty="0">
                          <a:latin typeface="Gotham Book"/>
                          <a:cs typeface="Arial"/>
                        </a:rPr>
                        <a:t>CV</a:t>
                      </a:r>
                    </a:p>
                    <a:p>
                      <a:pPr marL="6413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925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 dirty="0">
                          <a:latin typeface="Gotham Book"/>
                          <a:cs typeface="Arial"/>
                        </a:rPr>
                        <a:t>Leverage</a:t>
                      </a:r>
                      <a:r>
                        <a:rPr lang="en-US" sz="1200" spc="6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10" dirty="0">
                          <a:latin typeface="Gotham Book"/>
                          <a:cs typeface="Arial"/>
                        </a:rPr>
                        <a:t>techniques</a:t>
                      </a:r>
                      <a:r>
                        <a:rPr lang="en-US" sz="1200" spc="6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10" dirty="0">
                          <a:latin typeface="Gotham Book"/>
                          <a:cs typeface="Arial"/>
                        </a:rPr>
                        <a:t>like</a:t>
                      </a:r>
                      <a:r>
                        <a:rPr lang="en-US" sz="1200" spc="9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-10" dirty="0">
                          <a:latin typeface="Gotham Book"/>
                          <a:cs typeface="Arial"/>
                        </a:rPr>
                        <a:t>Bayesian</a:t>
                      </a:r>
                      <a:r>
                        <a:rPr lang="en-US" sz="1200" spc="50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50" dirty="0">
                          <a:latin typeface="Gotham Book"/>
                          <a:cs typeface="Arial"/>
                        </a:rPr>
                        <a:t>Optimization</a:t>
                      </a:r>
                      <a:r>
                        <a:rPr lang="en-US" sz="1200" spc="-2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50" dirty="0">
                          <a:latin typeface="Gotham Book"/>
                          <a:cs typeface="Arial"/>
                        </a:rPr>
                        <a:t>and</a:t>
                      </a:r>
                      <a:r>
                        <a:rPr lang="en-US" sz="1200" spc="2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early</a:t>
                      </a:r>
                      <a:r>
                        <a:rPr lang="en-US" sz="1200" spc="-1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70" dirty="0">
                          <a:latin typeface="Gotham Book"/>
                          <a:cs typeface="Arial"/>
                        </a:rPr>
                        <a:t>pruning</a:t>
                      </a:r>
                      <a:r>
                        <a:rPr lang="en-US" sz="1200" spc="-1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80" dirty="0">
                          <a:latin typeface="Gotham Book"/>
                          <a:cs typeface="Arial"/>
                        </a:rPr>
                        <a:t>of</a:t>
                      </a:r>
                      <a:r>
                        <a:rPr lang="en-US" sz="1200" spc="2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45" dirty="0">
                          <a:latin typeface="Gotham Book"/>
                          <a:cs typeface="Arial"/>
                        </a:rPr>
                        <a:t>unpromising </a:t>
                      </a:r>
                      <a:r>
                        <a:rPr lang="en-US" sz="1200" spc="-10" dirty="0">
                          <a:latin typeface="Gotham Book"/>
                          <a:cs typeface="Arial"/>
                        </a:rPr>
                        <a:t>trials</a:t>
                      </a:r>
                      <a:endParaRPr lang="en-US" sz="1200" dirty="0">
                        <a:latin typeface="Gotham Book"/>
                        <a:cs typeface="Arial"/>
                      </a:endParaRPr>
                    </a:p>
                    <a:p>
                      <a:pPr marL="184150" indent="-171450">
                        <a:lnSpc>
                          <a:spcPct val="100000"/>
                        </a:lnSpc>
                        <a:spcBef>
                          <a:spcPts val="925"/>
                        </a:spcBef>
                        <a:buFont typeface="Wingdings" panose="05000000000000000000" pitchFamily="2" charset="2"/>
                        <a:buChar char="q"/>
                      </a:pPr>
                      <a:endParaRPr lang="en-IN" sz="1200" b="1" spc="0" dirty="0">
                        <a:latin typeface="Gotham Book"/>
                        <a:cs typeface="Arial Black"/>
                      </a:endParaRPr>
                    </a:p>
                    <a:p>
                      <a:pPr marL="184150" indent="-171450">
                        <a:lnSpc>
                          <a:spcPct val="100000"/>
                        </a:lnSpc>
                        <a:spcBef>
                          <a:spcPts val="925"/>
                        </a:spcBef>
                        <a:buFont typeface="Wingdings" panose="05000000000000000000" pitchFamily="2" charset="2"/>
                        <a:buChar char="q"/>
                      </a:pPr>
                      <a:r>
                        <a:rPr lang="en-IN" sz="1200" b="1" spc="0" dirty="0">
                          <a:latin typeface="Gotham Book"/>
                          <a:cs typeface="Arial Black"/>
                        </a:rPr>
                        <a:t>Deployment and Monitoring</a:t>
                      </a:r>
                    </a:p>
                    <a:p>
                      <a:pPr marL="640715" marR="166370" lvl="1" indent="-171450">
                        <a:lnSpc>
                          <a:spcPts val="1510"/>
                        </a:lnSpc>
                        <a:spcBef>
                          <a:spcPts val="295"/>
                        </a:spcBef>
                        <a:buFont typeface="Wingdings" panose="05000000000000000000" pitchFamily="2" charset="2"/>
                        <a:buChar char="q"/>
                        <a:tabLst>
                          <a:tab pos="299085" algn="l"/>
                        </a:tabLst>
                      </a:pPr>
                      <a:r>
                        <a:rPr lang="en-US" sz="1200" dirty="0">
                          <a:latin typeface="Gotham Book"/>
                          <a:cs typeface="Arial"/>
                        </a:rPr>
                        <a:t>Use</a:t>
                      </a:r>
                      <a:r>
                        <a:rPr lang="en-US" sz="1200" spc="-3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50" dirty="0">
                          <a:latin typeface="Gotham Book"/>
                          <a:cs typeface="Arial"/>
                        </a:rPr>
                        <a:t>frameworks</a:t>
                      </a:r>
                      <a:r>
                        <a:rPr lang="en-US" sz="1200" spc="-5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like</a:t>
                      </a:r>
                      <a:r>
                        <a:rPr lang="en-US" sz="1200" spc="-4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-20" dirty="0">
                          <a:latin typeface="Gotham Book"/>
                          <a:cs typeface="Arial"/>
                        </a:rPr>
                        <a:t>Flask,</a:t>
                      </a:r>
                      <a:r>
                        <a:rPr lang="en-US" sz="1200" spc="-1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-35" dirty="0">
                          <a:latin typeface="Gotham Book"/>
                          <a:cs typeface="Arial"/>
                        </a:rPr>
                        <a:t>FastAPI,</a:t>
                      </a:r>
                      <a:r>
                        <a:rPr lang="en-US" sz="1200" spc="-4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80" dirty="0">
                          <a:latin typeface="Gotham Book"/>
                          <a:cs typeface="Arial"/>
                        </a:rPr>
                        <a:t>or</a:t>
                      </a:r>
                      <a:r>
                        <a:rPr lang="en-US" sz="1200" spc="-1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-10" dirty="0">
                          <a:latin typeface="Gotham Book"/>
                          <a:cs typeface="Arial"/>
                        </a:rPr>
                        <a:t>Django </a:t>
                      </a:r>
                      <a:r>
                        <a:rPr lang="en-US" sz="1200" spc="85" dirty="0">
                          <a:latin typeface="Gotham Book"/>
                          <a:cs typeface="Arial"/>
                        </a:rPr>
                        <a:t>to</a:t>
                      </a:r>
                      <a:r>
                        <a:rPr lang="en-US" sz="1200" spc="1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expose</a:t>
                      </a:r>
                      <a:r>
                        <a:rPr lang="en-US" sz="1200" spc="-2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60" dirty="0">
                          <a:latin typeface="Gotham Book"/>
                          <a:cs typeface="Arial"/>
                        </a:rPr>
                        <a:t>the</a:t>
                      </a:r>
                      <a:r>
                        <a:rPr lang="en-US" sz="1200" spc="1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70" dirty="0">
                          <a:latin typeface="Gotham Book"/>
                          <a:cs typeface="Arial"/>
                        </a:rPr>
                        <a:t>model</a:t>
                      </a:r>
                      <a:r>
                        <a:rPr lang="en-US" sz="1200" spc="-2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as</a:t>
                      </a:r>
                      <a:r>
                        <a:rPr lang="en-US" sz="1200" spc="-1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an</a:t>
                      </a:r>
                      <a:r>
                        <a:rPr lang="en-US" sz="1200" spc="-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-20" dirty="0">
                          <a:latin typeface="Gotham Book"/>
                          <a:cs typeface="Arial"/>
                        </a:rPr>
                        <a:t>API.</a:t>
                      </a:r>
                      <a:endParaRPr lang="en-US" sz="1200" dirty="0">
                        <a:latin typeface="Gotham Book"/>
                        <a:cs typeface="Arial"/>
                      </a:endParaRPr>
                    </a:p>
                    <a:p>
                      <a:pPr marL="641350" lvl="1" indent="-171450">
                        <a:lnSpc>
                          <a:spcPts val="1595"/>
                        </a:lnSpc>
                        <a:spcBef>
                          <a:spcPts val="810"/>
                        </a:spcBef>
                        <a:buFont typeface="Wingdings" panose="05000000000000000000" pitchFamily="2" charset="2"/>
                        <a:buChar char="q"/>
                        <a:tabLst>
                          <a:tab pos="299085" algn="l"/>
                        </a:tabLst>
                      </a:pPr>
                      <a:r>
                        <a:rPr lang="en-US" sz="1200" spc="65" dirty="0">
                          <a:latin typeface="Gotham Book"/>
                          <a:cs typeface="Arial"/>
                        </a:rPr>
                        <a:t>Implement</a:t>
                      </a:r>
                      <a:r>
                        <a:rPr lang="en-US" sz="1200" spc="4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70" dirty="0">
                          <a:latin typeface="Gotham Book"/>
                          <a:cs typeface="Arial"/>
                        </a:rPr>
                        <a:t>monitoring</a:t>
                      </a:r>
                      <a:r>
                        <a:rPr lang="en-US" sz="1200" spc="2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tools</a:t>
                      </a:r>
                      <a:r>
                        <a:rPr lang="en-US" sz="1200" spc="6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85" dirty="0">
                          <a:latin typeface="Gotham Book"/>
                          <a:cs typeface="Arial"/>
                        </a:rPr>
                        <a:t>to</a:t>
                      </a:r>
                      <a:r>
                        <a:rPr lang="en-US" sz="1200" spc="9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track</a:t>
                      </a:r>
                      <a:r>
                        <a:rPr lang="en-US" sz="1200" spc="7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45" dirty="0">
                          <a:latin typeface="Gotham Book"/>
                          <a:cs typeface="Arial"/>
                        </a:rPr>
                        <a:t>prediction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accuracy</a:t>
                      </a:r>
                      <a:r>
                        <a:rPr lang="en-US" sz="1200" spc="-5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50" dirty="0">
                          <a:latin typeface="Gotham Book"/>
                          <a:cs typeface="Arial"/>
                        </a:rPr>
                        <a:t>and</a:t>
                      </a:r>
                      <a:r>
                        <a:rPr lang="en-US" sz="1200" spc="3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Gotham Book"/>
                          <a:cs typeface="Arial"/>
                        </a:rPr>
                        <a:t>latency</a:t>
                      </a:r>
                      <a:r>
                        <a:rPr lang="en-US" sz="1200" spc="1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55" dirty="0">
                          <a:latin typeface="Gotham Book"/>
                          <a:cs typeface="Arial"/>
                        </a:rPr>
                        <a:t>after</a:t>
                      </a:r>
                      <a:r>
                        <a:rPr lang="en-US" sz="1200" spc="50" dirty="0">
                          <a:latin typeface="Gotham Book"/>
                          <a:cs typeface="Arial"/>
                        </a:rPr>
                        <a:t> </a:t>
                      </a:r>
                      <a:r>
                        <a:rPr lang="en-US" sz="1200" spc="45" dirty="0">
                          <a:latin typeface="Gotham Book"/>
                          <a:cs typeface="Arial"/>
                        </a:rPr>
                        <a:t>deployment.</a:t>
                      </a:r>
                      <a:endParaRPr lang="en-US" sz="1200" dirty="0">
                        <a:latin typeface="Gotham Book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052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9791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954</Words>
  <Application>Microsoft Office PowerPoint</Application>
  <PresentationFormat>Widescreen</PresentationFormat>
  <Paragraphs>246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Gotham Bold</vt:lpstr>
      <vt:lpstr>Gotham Book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Roopam Ambekar</dc:creator>
  <cp:lastModifiedBy>Roopam Ambekar</cp:lastModifiedBy>
  <cp:revision>16</cp:revision>
  <dcterms:created xsi:type="dcterms:W3CDTF">2025-04-30T00:17:30Z</dcterms:created>
  <dcterms:modified xsi:type="dcterms:W3CDTF">2025-05-01T05:30:38Z</dcterms:modified>
</cp:coreProperties>
</file>