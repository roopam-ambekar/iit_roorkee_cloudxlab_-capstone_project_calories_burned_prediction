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62F36"/>
    <a:srgbClr val="F9A71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18394-4317-9219-C791-547940B27B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9F722B-095A-B7A9-9086-0F41E39758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5BACB-461D-CDC6-179A-DE05F604F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6604E-2EF1-0E65-9DAF-E333A364F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68D28-880E-2ED8-B1FA-2DAB2221E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903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1E78F-FC80-8DDF-051D-612504682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96B8F-4E59-93B3-B463-9CDD2DF6B4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9DC75-008A-391F-2138-D88237ED5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0FF9E-2985-2CE0-0591-832B4368A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5DDB1-A030-7C0A-B346-094B47701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452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BCDB-91AD-EA98-C83A-03EFC69E8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B67189-ED0F-0966-78D8-7117B3A4E1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E0F20B-46FC-B6DF-E1B1-A6E36C506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B5BC0E-6032-34C7-D491-7099C47B0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16080-79B5-0060-FB66-8F29B177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28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63980-1C14-E4D6-9DAD-44BEC6D83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841FB-C1C4-77E6-6D29-626731B628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150320-9851-403E-E19E-A463FC01F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9D4B22-6E39-3B71-EA0E-C672DAE58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E5A3BC-005D-2360-D9E6-C2779D497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EAFE1-544F-D3BE-4846-BC3637A32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685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8F17-718D-B25F-8FEF-E0597F1B0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2117F-D69C-E7C9-4A59-619A42AE27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4CF5C7-E2A8-B69B-4DC7-22AC801966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F7991A-04DF-9EAC-0727-718FA30FD9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65551E-66F1-72CF-A470-DCEC2F827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694A1A-FEAC-A2CA-BAC5-5B9DBC49D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8C1A8B-60C2-8CBF-B179-2ED9D2A10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DA0BF7-8073-06F5-6BFE-3272C00DC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32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10E00-2620-ED34-7F19-069A33BBF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813FEF-135E-867F-3F34-7BDF2EBEB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4423E4-334D-0E9F-102B-C1741F1D0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363341-C047-37E1-F02A-6FC654DFF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806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A8076-31A7-E119-8C47-AB7A28937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25659E-7837-B4E7-6A91-C1F4A4770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277BF-0A08-571B-06D8-F096EC306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906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718F5-AE61-4544-68D8-6C27457F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B135F-1175-CB62-F7C5-907997D71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FDC744-EE47-3EA7-AB50-DE3B926DB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47872-1CFE-847B-9C1B-01CF9B9FE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B54FA2-3A81-B9C2-FC87-D0A5AE0DA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EB7460-B29B-7F63-9D9F-7E6AB8A4A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420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18377-96DA-939B-C3B6-1C7DDE7F6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07DEE5-260C-BFFB-7B70-5129A1A35A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C6FFA6-51FD-0825-BC62-02690D469C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3BD6A3-F4C5-FB5E-D9DB-6129C5AD3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8BD787-A1BF-DE51-3E06-D1F7324A0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11E601-82D5-279A-11B8-8FB96F405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298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8AF58-1DF8-7E1C-3804-511DA5AB5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BA2793-3404-1C4D-79CF-FB0D0EA885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B84EFA-6965-45E8-BE77-D0C86984D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102977-BD82-E3AB-77FB-A4F430317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500E74-24A2-7DBD-F279-4C3DB381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180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B1121B-4B93-86D7-C48C-41DF6C96D2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9A9FE-9E9C-04B8-4C74-DEB8572AD8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581534-2402-C563-FA8B-595BF2423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D5EB7-E718-4733-8141-4B375C4F80E5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78C21-AF19-E9BB-BD81-A1D12D219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D333C-F84C-45A8-5C2A-7C9952536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337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1FA835-91AE-D6BD-466A-6C7E3A32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9E7E4-83D9-9C88-6112-883E0BB2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2BEF69-E7DD-D4A9-C8AE-6EFC93F5E3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D5EB7-E718-4733-8141-4B375C4F80E5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B7755-D815-1F4D-DEA4-DA5C164177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1F86A-7B7C-F822-C593-8E02BB206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D89D-0B2C-4819-A813-CC2E86DC42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109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97BC0FC-2992-0893-FC30-BDB153075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325" y="1309127"/>
            <a:ext cx="4282505" cy="4096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ED4BC2-5570-567B-51F9-2136AE462766}"/>
              </a:ext>
            </a:extLst>
          </p:cNvPr>
          <p:cNvSpPr txBox="1"/>
          <p:nvPr/>
        </p:nvSpPr>
        <p:spPr>
          <a:xfrm>
            <a:off x="474112" y="2203119"/>
            <a:ext cx="6096000" cy="2308324"/>
          </a:xfrm>
          <a:prstGeom prst="flowChartProcess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0" spc="-16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Machine</a:t>
            </a:r>
            <a:r>
              <a:rPr lang="en-US" sz="4800" b="0" spc="-35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 </a:t>
            </a:r>
            <a:r>
              <a:rPr lang="en-US" sz="4800" b="0" spc="-14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Learning</a:t>
            </a:r>
            <a:r>
              <a:rPr lang="en-US" sz="4800" b="0" spc="-33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 </a:t>
            </a:r>
            <a:r>
              <a:rPr lang="en-US" sz="4800" b="0" spc="-114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Model</a:t>
            </a:r>
            <a:r>
              <a:rPr lang="en-US" sz="4800" b="0" spc="-330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 </a:t>
            </a:r>
            <a:r>
              <a:rPr lang="en-US" sz="4800" b="0" spc="-25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On </a:t>
            </a:r>
            <a:r>
              <a:rPr lang="en-US" sz="4800" b="0" spc="-260" dirty="0">
                <a:solidFill>
                  <a:srgbClr val="862F36"/>
                </a:solidFill>
                <a:latin typeface="Gotham Bold" pitchFamily="50" charset="0"/>
                <a:cs typeface="Arial Black"/>
              </a:rPr>
              <a:t>Calories Burned Prediction</a:t>
            </a:r>
            <a:endParaRPr lang="en-US" sz="4800" dirty="0">
              <a:solidFill>
                <a:srgbClr val="862F36"/>
              </a:solidFill>
              <a:latin typeface="Gotham Bold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6980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BBB972E-0A47-A2C7-7FA6-CCB81F4E57F4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D70778A0-DFCF-F01E-3745-C1DCCFD70E91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Gotham Book" pitchFamily="50" charset="0"/>
                <a:cs typeface="Gotham Book" pitchFamily="50" charset="0"/>
              </a:rPr>
              <a:t>Objective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842B6ED3-190B-12DD-AA1F-DA09AC853161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A35D3C3D-6C0B-D479-5D02-9A9E94B15391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B3685252-E956-0C23-085D-69135B50324D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3E377994-43DA-0083-2698-3AFFC7C72E70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809696D8-8ED8-A77F-60A2-EE6425E185EF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3" name="Rectangle: Diagonal Corners Snipped 12">
            <a:extLst>
              <a:ext uri="{FF2B5EF4-FFF2-40B4-BE49-F238E27FC236}">
                <a16:creationId xmlns:a16="http://schemas.microsoft.com/office/drawing/2014/main" id="{A1D3C3A1-AFD5-563E-BA9F-6E8F03BEF78C}"/>
              </a:ext>
            </a:extLst>
          </p:cNvPr>
          <p:cNvSpPr/>
          <p:nvPr/>
        </p:nvSpPr>
        <p:spPr>
          <a:xfrm>
            <a:off x="373641" y="1331259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Problem Statement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4" name="Rectangle: Diagonal Corners Snipped 13">
            <a:extLst>
              <a:ext uri="{FF2B5EF4-FFF2-40B4-BE49-F238E27FC236}">
                <a16:creationId xmlns:a16="http://schemas.microsoft.com/office/drawing/2014/main" id="{19D34A8E-1DC4-5F0D-8E9C-A53A7B1B36C4}"/>
              </a:ext>
            </a:extLst>
          </p:cNvPr>
          <p:cNvSpPr/>
          <p:nvPr/>
        </p:nvSpPr>
        <p:spPr>
          <a:xfrm>
            <a:off x="4568345" y="1331259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Stakeholders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94A272AB-9B84-97C3-EFBE-EFFE594577E9}"/>
              </a:ext>
            </a:extLst>
          </p:cNvPr>
          <p:cNvSpPr/>
          <p:nvPr/>
        </p:nvSpPr>
        <p:spPr>
          <a:xfrm>
            <a:off x="8763049" y="1331259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Business Use Case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6" name="Rectangle: Diagonal Corners Snipped 15">
            <a:extLst>
              <a:ext uri="{FF2B5EF4-FFF2-40B4-BE49-F238E27FC236}">
                <a16:creationId xmlns:a16="http://schemas.microsoft.com/office/drawing/2014/main" id="{1BFC68E1-553B-F5B5-67CD-A55C4C3FF625}"/>
              </a:ext>
            </a:extLst>
          </p:cNvPr>
          <p:cNvSpPr/>
          <p:nvPr/>
        </p:nvSpPr>
        <p:spPr>
          <a:xfrm>
            <a:off x="267505" y="2017059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Predict the number of calories burned during physical activities based on individual and activity-related features.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The model is a regression problem and uses features like: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Gender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Age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Height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Weight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Duration of exercise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Heart rate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Body temperature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The goal is to provide an accurate calorie burn estimate using machine learning.</a:t>
            </a:r>
          </a:p>
        </p:txBody>
      </p:sp>
      <p:sp>
        <p:nvSpPr>
          <p:cNvPr id="17" name="Rectangle: Diagonal Corners Snipped 16">
            <a:extLst>
              <a:ext uri="{FF2B5EF4-FFF2-40B4-BE49-F238E27FC236}">
                <a16:creationId xmlns:a16="http://schemas.microsoft.com/office/drawing/2014/main" id="{C4A2B281-233D-8642-4B58-84EAB0F42980}"/>
              </a:ext>
            </a:extLst>
          </p:cNvPr>
          <p:cNvSpPr/>
          <p:nvPr/>
        </p:nvSpPr>
        <p:spPr>
          <a:xfrm>
            <a:off x="4462208" y="2017059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Healthcare &amp; Fitness Companies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: Interested in personalized fitness plans.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Gyms &amp; Personal Trainers: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 To optimize client routines based on calorie expenditure.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Wearable Tech Manufacturers: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 For real-time calorie tracking and analytics.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End Users / Individuals: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 For health monitoring and weight management.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Nutritionists &amp; Dietitians: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 For tailoring diet plans based on activity data.</a:t>
            </a:r>
          </a:p>
        </p:txBody>
      </p:sp>
      <p:sp>
        <p:nvSpPr>
          <p:cNvPr id="18" name="Rectangle: Diagonal Corners Snipped 17">
            <a:extLst>
              <a:ext uri="{FF2B5EF4-FFF2-40B4-BE49-F238E27FC236}">
                <a16:creationId xmlns:a16="http://schemas.microsoft.com/office/drawing/2014/main" id="{ADC60C7A-4BD4-87D9-97FE-D4BC86235949}"/>
              </a:ext>
            </a:extLst>
          </p:cNvPr>
          <p:cNvSpPr/>
          <p:nvPr/>
        </p:nvSpPr>
        <p:spPr>
          <a:xfrm>
            <a:off x="8656912" y="2017058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Fitness Platforms: 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Provide personalized workout recommendations based on predicted calorie burn.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Insurance Companies: 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Incentivize active behavior via dynamic premiums based on exercise levels.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Health Apps: 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Deliver accurate insights into energy expenditure to motivate healthy habits.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b="1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Wearables: </a:t>
            </a: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Improve prediction algorithms for better tracking accuracy and user trust.</a:t>
            </a:r>
          </a:p>
        </p:txBody>
      </p:sp>
    </p:spTree>
    <p:extLst>
      <p:ext uri="{BB962C8B-B14F-4D97-AF65-F5344CB8AC3E}">
        <p14:creationId xmlns:p14="http://schemas.microsoft.com/office/powerpoint/2010/main" val="1160469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0700F-C24E-27C6-E1F8-0DEC9472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D2BDA7F-5A07-3782-6DF8-2358A906FCAE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7FC2EB22-A1A0-488C-49A0-EDFB8F7BBAA1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16A44C21-0562-90E7-20C6-2B6C2AECB13D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  <a:cs typeface="Gotham Book" pitchFamily="50" charset="0"/>
              </a:rPr>
              <a:t>Approach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2AA8D052-30FC-84EC-6FA3-FC12A00DE22B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944E65FA-3C79-893F-808C-31B1C4A1604D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0FDFF965-3C5D-2FA4-36EE-33E190E8B066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B86866EA-3ABD-8119-A210-8ADFBB5A0AA9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3" name="Arrow: Pentagon 12">
            <a:extLst>
              <a:ext uri="{FF2B5EF4-FFF2-40B4-BE49-F238E27FC236}">
                <a16:creationId xmlns:a16="http://schemas.microsoft.com/office/drawing/2014/main" id="{8215953B-C018-0CAE-9FB6-D5ECE65D9FE1}"/>
              </a:ext>
            </a:extLst>
          </p:cNvPr>
          <p:cNvSpPr/>
          <p:nvPr/>
        </p:nvSpPr>
        <p:spPr>
          <a:xfrm>
            <a:off x="373641" y="1331259"/>
            <a:ext cx="3177190" cy="345139"/>
          </a:xfrm>
          <a:prstGeom prst="homePlate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Data Preparation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4" name="Arrow: Pentagon 13">
            <a:extLst>
              <a:ext uri="{FF2B5EF4-FFF2-40B4-BE49-F238E27FC236}">
                <a16:creationId xmlns:a16="http://schemas.microsoft.com/office/drawing/2014/main" id="{6CC1A1FA-83E9-4DEA-377E-B8A28610EA76}"/>
              </a:ext>
            </a:extLst>
          </p:cNvPr>
          <p:cNvSpPr/>
          <p:nvPr/>
        </p:nvSpPr>
        <p:spPr>
          <a:xfrm>
            <a:off x="4568345" y="1331259"/>
            <a:ext cx="3177190" cy="345139"/>
          </a:xfrm>
          <a:prstGeom prst="homePlate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Train Baseline Model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5" name="Arrow: Pentagon 14">
            <a:extLst>
              <a:ext uri="{FF2B5EF4-FFF2-40B4-BE49-F238E27FC236}">
                <a16:creationId xmlns:a16="http://schemas.microsoft.com/office/drawing/2014/main" id="{D5A89328-4C0E-9DD5-63BC-3AD30CFC8A64}"/>
              </a:ext>
            </a:extLst>
          </p:cNvPr>
          <p:cNvSpPr/>
          <p:nvPr/>
        </p:nvSpPr>
        <p:spPr>
          <a:xfrm>
            <a:off x="8763049" y="1331259"/>
            <a:ext cx="3177190" cy="345139"/>
          </a:xfrm>
          <a:prstGeom prst="homePlate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Further Models &amp; Model Evaluation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6" name="Rectangle: Diagonal Corners Snipped 15">
            <a:extLst>
              <a:ext uri="{FF2B5EF4-FFF2-40B4-BE49-F238E27FC236}">
                <a16:creationId xmlns:a16="http://schemas.microsoft.com/office/drawing/2014/main" id="{0B8D00DF-EF83-0C1B-C5E0-FA7E2A822528}"/>
              </a:ext>
            </a:extLst>
          </p:cNvPr>
          <p:cNvSpPr/>
          <p:nvPr/>
        </p:nvSpPr>
        <p:spPr>
          <a:xfrm>
            <a:off x="267505" y="2017059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Preprocess the data by handling missing values, removing duplicates, and resolving any inconsistencies.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Perform univariate analysis to determine which features exhibit the strongest correlation with the target variable.</a:t>
            </a:r>
          </a:p>
        </p:txBody>
      </p:sp>
      <p:sp>
        <p:nvSpPr>
          <p:cNvPr id="17" name="Rectangle: Diagonal Corners Snipped 16">
            <a:extLst>
              <a:ext uri="{FF2B5EF4-FFF2-40B4-BE49-F238E27FC236}">
                <a16:creationId xmlns:a16="http://schemas.microsoft.com/office/drawing/2014/main" id="{93A6979A-C8E1-5BC3-9ED4-25DD2B63CCFE}"/>
              </a:ext>
            </a:extLst>
          </p:cNvPr>
          <p:cNvSpPr/>
          <p:nvPr/>
        </p:nvSpPr>
        <p:spPr>
          <a:xfrm>
            <a:off x="4462208" y="2017059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Build a baseline linear regression model to evaluate its performance.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Build a baseline random forest model for comparison with the linear regression model.</a:t>
            </a:r>
          </a:p>
        </p:txBody>
      </p:sp>
      <p:sp>
        <p:nvSpPr>
          <p:cNvPr id="18" name="Rectangle: Diagonal Corners Snipped 17">
            <a:extLst>
              <a:ext uri="{FF2B5EF4-FFF2-40B4-BE49-F238E27FC236}">
                <a16:creationId xmlns:a16="http://schemas.microsoft.com/office/drawing/2014/main" id="{230C410C-B8B2-09EA-CBAA-E96AFAD38559}"/>
              </a:ext>
            </a:extLst>
          </p:cNvPr>
          <p:cNvSpPr/>
          <p:nvPr/>
        </p:nvSpPr>
        <p:spPr>
          <a:xfrm>
            <a:off x="8656912" y="2017058"/>
            <a:ext cx="3389465" cy="4329945"/>
          </a:xfrm>
          <a:prstGeom prst="snip2DiagRect">
            <a:avLst>
              <a:gd name="adj1" fmla="val 0"/>
              <a:gd name="adj2" fmla="val 5294"/>
            </a:avLst>
          </a:prstGeom>
          <a:noFill/>
          <a:ln w="19050">
            <a:solidFill>
              <a:srgbClr val="862F3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Build and evaluate Random Forest, Gradient Boosting, and LGBM models.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Use Grid Search CV to find the optimal hyperparameters and the best-performing model.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200" b="1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2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Make predictions using the best model.</a:t>
            </a:r>
          </a:p>
        </p:txBody>
      </p:sp>
    </p:spTree>
    <p:extLst>
      <p:ext uri="{BB962C8B-B14F-4D97-AF65-F5344CB8AC3E}">
        <p14:creationId xmlns:p14="http://schemas.microsoft.com/office/powerpoint/2010/main" val="848170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95848-11FC-3789-D915-2739D19E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A3432CA-D5F1-CA6E-E70A-FC83BCB7914A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1C131DB0-23CF-5392-8348-B7CB644FD30D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7B0971F5-B82C-EFF6-6489-C40C3C4D5601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C7A4D47C-854F-ABE9-20F0-9198BBD8E234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04B5B8FB-D8F5-C880-7BDD-E567F80B3415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  <a:cs typeface="Gotham Book" pitchFamily="50" charset="0"/>
              </a:rPr>
              <a:t>Model Summary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6FB66F16-7708-C200-1ABF-C8943E57A9A2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1BCAC6CA-3E29-EF9F-A08F-E12696D49F73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C487F67-D193-50D2-18A2-0446BD0B7DE1}"/>
              </a:ext>
            </a:extLst>
          </p:cNvPr>
          <p:cNvCxnSpPr>
            <a:cxnSpLocks/>
          </p:cNvCxnSpPr>
          <p:nvPr/>
        </p:nvCxnSpPr>
        <p:spPr>
          <a:xfrm>
            <a:off x="6096000" y="1021976"/>
            <a:ext cx="0" cy="5719483"/>
          </a:xfrm>
          <a:prstGeom prst="line">
            <a:avLst/>
          </a:prstGeom>
          <a:ln w="19050">
            <a:solidFill>
              <a:srgbClr val="862F3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1DFE3D-3C6A-A1DC-CF23-79A1F698BA83}"/>
              </a:ext>
            </a:extLst>
          </p:cNvPr>
          <p:cNvCxnSpPr>
            <a:cxnSpLocks/>
          </p:cNvCxnSpPr>
          <p:nvPr/>
        </p:nvCxnSpPr>
        <p:spPr>
          <a:xfrm>
            <a:off x="122117" y="3724835"/>
            <a:ext cx="11947765" cy="0"/>
          </a:xfrm>
          <a:prstGeom prst="line">
            <a:avLst/>
          </a:prstGeom>
          <a:ln w="19050">
            <a:solidFill>
              <a:srgbClr val="862F3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AC53E031-4492-21E0-86E5-E0A5E8CA4F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6345" y="3260584"/>
            <a:ext cx="739309" cy="92850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4B51861F-E67A-C4F8-C2C9-35271FB7A3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370463"/>
              </p:ext>
            </p:extLst>
          </p:nvPr>
        </p:nvGraphicFramePr>
        <p:xfrm>
          <a:off x="480121" y="1715160"/>
          <a:ext cx="4975184" cy="176156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24961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0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200" spc="-10" dirty="0"/>
                        <a:t>Description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7625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200" spc="-10" dirty="0"/>
                        <a:t>Count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7625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spc="-20" dirty="0"/>
                        <a:t>Data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spc="-10" dirty="0"/>
                        <a:t>15,000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dirty="0"/>
                        <a:t>Rows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spc="-10" dirty="0"/>
                        <a:t>15,000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dirty="0"/>
                        <a:t>Columns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spc="-10" dirty="0"/>
                        <a:t>9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200" spc="-20" dirty="0"/>
                        <a:t>Train</a:t>
                      </a:r>
                      <a:r>
                        <a:rPr sz="1200" spc="-40" dirty="0"/>
                        <a:t> </a:t>
                      </a:r>
                      <a:r>
                        <a:rPr sz="1200" spc="-20" dirty="0"/>
                        <a:t>Data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spc="-10" dirty="0"/>
                        <a:t>12,000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200" spc="-35" dirty="0"/>
                        <a:t>Test</a:t>
                      </a:r>
                      <a:r>
                        <a:rPr sz="1200" spc="-15" dirty="0"/>
                        <a:t> </a:t>
                      </a:r>
                      <a:r>
                        <a:rPr sz="1200" spc="-20" dirty="0"/>
                        <a:t>Data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spc="-10" dirty="0"/>
                        <a:t>3,000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" name="Rectangle: Diagonal Corners Snipped 21">
            <a:extLst>
              <a:ext uri="{FF2B5EF4-FFF2-40B4-BE49-F238E27FC236}">
                <a16:creationId xmlns:a16="http://schemas.microsoft.com/office/drawing/2014/main" id="{A3984583-CAEE-891C-2DBD-073529FD0E6D}"/>
              </a:ext>
            </a:extLst>
          </p:cNvPr>
          <p:cNvSpPr/>
          <p:nvPr/>
        </p:nvSpPr>
        <p:spPr>
          <a:xfrm>
            <a:off x="1379118" y="1190392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Datapoints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055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52B7E-A62B-8435-F2A9-86C0887C9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217548D-8147-CB0F-3BFD-AEAF2E6F3959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65CC2CE5-D51C-9B2E-5F3D-797DF0B43BB4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07F4ADE0-2545-17B5-C245-6EDE6062839F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939D6A69-2C5B-7A32-378A-08B5B7962106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DFBCE4A8-12C5-7261-1FEF-84E5753C62E4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  <a:cs typeface="Gotham Book" pitchFamily="50" charset="0"/>
              </a:rPr>
              <a:t>Model Summary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D0951833-2CE7-E61D-E45D-7B21818D5FFC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Results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49C13D06-5773-EC9C-9274-E3381671FAC4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B71C9E5-3E33-3017-98E2-726140220CFD}"/>
              </a:ext>
            </a:extLst>
          </p:cNvPr>
          <p:cNvCxnSpPr>
            <a:cxnSpLocks/>
          </p:cNvCxnSpPr>
          <p:nvPr/>
        </p:nvCxnSpPr>
        <p:spPr>
          <a:xfrm>
            <a:off x="6096000" y="1021976"/>
            <a:ext cx="0" cy="5719483"/>
          </a:xfrm>
          <a:prstGeom prst="line">
            <a:avLst/>
          </a:prstGeom>
          <a:ln w="19050">
            <a:solidFill>
              <a:srgbClr val="862F3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550957D-74A1-1E3E-0447-3CAF1AB5967C}"/>
              </a:ext>
            </a:extLst>
          </p:cNvPr>
          <p:cNvCxnSpPr>
            <a:cxnSpLocks/>
          </p:cNvCxnSpPr>
          <p:nvPr/>
        </p:nvCxnSpPr>
        <p:spPr>
          <a:xfrm>
            <a:off x="122117" y="3724835"/>
            <a:ext cx="11947765" cy="0"/>
          </a:xfrm>
          <a:prstGeom prst="line">
            <a:avLst/>
          </a:prstGeom>
          <a:ln w="19050">
            <a:solidFill>
              <a:srgbClr val="862F3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F6D3E4E1-58AB-964F-B0EB-9CE6F0856B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6345" y="3260584"/>
            <a:ext cx="739309" cy="92850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462195AA-27AC-78DF-D370-2A185130BD5F}"/>
              </a:ext>
            </a:extLst>
          </p:cNvPr>
          <p:cNvGraphicFramePr>
            <a:graphicFrameLocks noGrp="1"/>
          </p:cNvGraphicFramePr>
          <p:nvPr/>
        </p:nvGraphicFramePr>
        <p:xfrm>
          <a:off x="480121" y="1715160"/>
          <a:ext cx="4975184" cy="176156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24961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0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200" spc="-10" dirty="0"/>
                        <a:t>Description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7625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5"/>
                        </a:spcBef>
                      </a:pPr>
                      <a:r>
                        <a:rPr sz="1200" spc="-10" dirty="0"/>
                        <a:t>Count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7625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spc="-20" dirty="0"/>
                        <a:t>Data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spc="-10" dirty="0"/>
                        <a:t>15,000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dirty="0"/>
                        <a:t>Rows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spc="-10" dirty="0"/>
                        <a:t>15,000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dirty="0"/>
                        <a:t>Columns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spc="-10" dirty="0"/>
                        <a:t>9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200" spc="-20" dirty="0"/>
                        <a:t>Train</a:t>
                      </a:r>
                      <a:r>
                        <a:rPr sz="1200" spc="-40" dirty="0"/>
                        <a:t> </a:t>
                      </a:r>
                      <a:r>
                        <a:rPr sz="1200" spc="-20" dirty="0"/>
                        <a:t>Data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spc="-10" dirty="0"/>
                        <a:t>12,000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4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200" spc="-35" dirty="0"/>
                        <a:t>Test</a:t>
                      </a:r>
                      <a:r>
                        <a:rPr sz="1200" spc="-15" dirty="0"/>
                        <a:t> </a:t>
                      </a:r>
                      <a:r>
                        <a:rPr sz="1200" spc="-20" dirty="0"/>
                        <a:t>Data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lang="en-IN" sz="1200" spc="-10" dirty="0"/>
                        <a:t>3,000</a:t>
                      </a:r>
                      <a:endParaRPr sz="1200" dirty="0">
                        <a:latin typeface="Gotham Book" pitchFamily="50" charset="0"/>
                        <a:cs typeface="Gotham Book" pitchFamily="50" charset="0"/>
                      </a:endParaRPr>
                    </a:p>
                  </a:txBody>
                  <a:tcPr marL="0" marR="0" marT="4826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" name="Rectangle: Diagonal Corners Snipped 21">
            <a:extLst>
              <a:ext uri="{FF2B5EF4-FFF2-40B4-BE49-F238E27FC236}">
                <a16:creationId xmlns:a16="http://schemas.microsoft.com/office/drawing/2014/main" id="{3D5BED72-7BD0-7830-ECF6-7AE80E48F8FC}"/>
              </a:ext>
            </a:extLst>
          </p:cNvPr>
          <p:cNvSpPr/>
          <p:nvPr/>
        </p:nvSpPr>
        <p:spPr>
          <a:xfrm>
            <a:off x="1379118" y="1190392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Datapoints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9532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04CA4-0FFB-9EA7-EBCC-DAF1DE566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B90DBCA-8FDB-AC60-84B5-543226156507}"/>
              </a:ext>
            </a:extLst>
          </p:cNvPr>
          <p:cNvCxnSpPr>
            <a:cxnSpLocks/>
          </p:cNvCxnSpPr>
          <p:nvPr/>
        </p:nvCxnSpPr>
        <p:spPr>
          <a:xfrm>
            <a:off x="0" y="869577"/>
            <a:ext cx="12192000" cy="0"/>
          </a:xfrm>
          <a:prstGeom prst="line">
            <a:avLst/>
          </a:prstGeom>
          <a:ln w="19050">
            <a:solidFill>
              <a:srgbClr val="862F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179DB47E-534C-F142-C9E9-7445CD1786CF}"/>
              </a:ext>
            </a:extLst>
          </p:cNvPr>
          <p:cNvSpPr/>
          <p:nvPr/>
        </p:nvSpPr>
        <p:spPr>
          <a:xfrm>
            <a:off x="161368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Objective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7302ACD-B240-5BEC-352D-76AF2D1F1C84}"/>
              </a:ext>
            </a:extLst>
          </p:cNvPr>
          <p:cNvSpPr/>
          <p:nvPr/>
        </p:nvSpPr>
        <p:spPr>
          <a:xfrm>
            <a:off x="2192770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Approach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DA80AA32-83BC-D7E8-1C6E-6BCA316218E9}"/>
              </a:ext>
            </a:extLst>
          </p:cNvPr>
          <p:cNvSpPr/>
          <p:nvPr/>
        </p:nvSpPr>
        <p:spPr>
          <a:xfrm>
            <a:off x="10318377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Reference &amp; Comments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9" name="Rectangle: Diagonal Corners Snipped 8">
            <a:extLst>
              <a:ext uri="{FF2B5EF4-FFF2-40B4-BE49-F238E27FC236}">
                <a16:creationId xmlns:a16="http://schemas.microsoft.com/office/drawing/2014/main" id="{806741E7-7225-D96A-EA3E-27801127E7D9}"/>
              </a:ext>
            </a:extLst>
          </p:cNvPr>
          <p:cNvSpPr/>
          <p:nvPr/>
        </p:nvSpPr>
        <p:spPr>
          <a:xfrm>
            <a:off x="4224172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Model Summary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497EB01E-2112-63C1-3745-532A28DCF41F}"/>
              </a:ext>
            </a:extLst>
          </p:cNvPr>
          <p:cNvSpPr/>
          <p:nvPr/>
        </p:nvSpPr>
        <p:spPr>
          <a:xfrm>
            <a:off x="6239829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Gotham Book" pitchFamily="50" charset="0"/>
                <a:cs typeface="Gotham Book" pitchFamily="50" charset="0"/>
              </a:rPr>
              <a:t>Results</a:t>
            </a:r>
            <a:endParaRPr lang="en-US" dirty="0">
              <a:latin typeface="Gotham Book" pitchFamily="50" charset="0"/>
              <a:cs typeface="Gotham Book" pitchFamily="50" charset="0"/>
            </a:endParaRPr>
          </a:p>
        </p:txBody>
      </p:sp>
      <p:sp>
        <p:nvSpPr>
          <p:cNvPr id="11" name="Rectangle: Diagonal Corners Snipped 10">
            <a:extLst>
              <a:ext uri="{FF2B5EF4-FFF2-40B4-BE49-F238E27FC236}">
                <a16:creationId xmlns:a16="http://schemas.microsoft.com/office/drawing/2014/main" id="{A8FD85DE-E53A-DA61-AD79-279CC34BDF71}"/>
              </a:ext>
            </a:extLst>
          </p:cNvPr>
          <p:cNvSpPr/>
          <p:nvPr/>
        </p:nvSpPr>
        <p:spPr>
          <a:xfrm>
            <a:off x="8286973" y="103094"/>
            <a:ext cx="1728000" cy="623047"/>
          </a:xfrm>
          <a:prstGeom prst="snip2DiagRect">
            <a:avLst/>
          </a:prstGeom>
          <a:gradFill flip="none" rotWithShape="1">
            <a:gsLst>
              <a:gs pos="0">
                <a:srgbClr val="F9A716">
                  <a:tint val="66000"/>
                  <a:satMod val="160000"/>
                </a:srgbClr>
              </a:gs>
              <a:gs pos="50000">
                <a:srgbClr val="F9A716">
                  <a:tint val="44500"/>
                  <a:satMod val="160000"/>
                </a:srgbClr>
              </a:gs>
              <a:gs pos="100000">
                <a:srgbClr val="F9A716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862F36"/>
                </a:solidFill>
                <a:latin typeface="Gotham Book" pitchFamily="50" charset="0"/>
                <a:cs typeface="Gotham Book" pitchFamily="50" charset="0"/>
              </a:rPr>
              <a:t>Inference</a:t>
            </a:r>
            <a:endParaRPr lang="en-US" sz="1600" dirty="0">
              <a:solidFill>
                <a:srgbClr val="862F36"/>
              </a:solidFill>
              <a:latin typeface="Gotham Book" pitchFamily="50" charset="0"/>
              <a:cs typeface="Gotham Book" pitchFamily="50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E5E7B9B-A996-497B-399E-D7D9E183F514}"/>
              </a:ext>
            </a:extLst>
          </p:cNvPr>
          <p:cNvCxnSpPr>
            <a:cxnSpLocks/>
          </p:cNvCxnSpPr>
          <p:nvPr/>
        </p:nvCxnSpPr>
        <p:spPr>
          <a:xfrm>
            <a:off x="122117" y="3724835"/>
            <a:ext cx="11947765" cy="0"/>
          </a:xfrm>
          <a:prstGeom prst="line">
            <a:avLst/>
          </a:prstGeom>
          <a:ln w="19050">
            <a:solidFill>
              <a:srgbClr val="862F3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Diagonal Corners Snipped 21">
            <a:extLst>
              <a:ext uri="{FF2B5EF4-FFF2-40B4-BE49-F238E27FC236}">
                <a16:creationId xmlns:a16="http://schemas.microsoft.com/office/drawing/2014/main" id="{9A7F4CB5-9B68-7208-38C7-BB31718EA6D3}"/>
              </a:ext>
            </a:extLst>
          </p:cNvPr>
          <p:cNvSpPr/>
          <p:nvPr/>
        </p:nvSpPr>
        <p:spPr>
          <a:xfrm>
            <a:off x="1379118" y="1190392"/>
            <a:ext cx="3177190" cy="345139"/>
          </a:xfrm>
          <a:prstGeom prst="snip2DiagRect">
            <a:avLst/>
          </a:prstGeom>
          <a:gradFill flip="none" rotWithShape="1">
            <a:gsLst>
              <a:gs pos="0">
                <a:srgbClr val="862F36">
                  <a:shade val="30000"/>
                  <a:satMod val="115000"/>
                </a:srgbClr>
              </a:gs>
              <a:gs pos="50000">
                <a:srgbClr val="862F36">
                  <a:shade val="67500"/>
                  <a:satMod val="115000"/>
                </a:srgbClr>
              </a:gs>
              <a:gs pos="100000">
                <a:srgbClr val="862F36">
                  <a:shade val="100000"/>
                  <a:satMod val="115000"/>
                </a:srgb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>
                <a:latin typeface="Gotham Book" pitchFamily="50" charset="0"/>
                <a:cs typeface="Gotham Book" pitchFamily="50" charset="0"/>
              </a:rPr>
              <a:t>Datapoints</a:t>
            </a:r>
            <a:endParaRPr lang="en-US" sz="1200" dirty="0">
              <a:latin typeface="Gotham Book" pitchFamily="50" charset="0"/>
              <a:cs typeface="Gotham Book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9835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357</Words>
  <Application>Microsoft Office PowerPoint</Application>
  <PresentationFormat>Widescreen</PresentationFormat>
  <Paragraphs>103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Calibri</vt:lpstr>
      <vt:lpstr>Calibri Light</vt:lpstr>
      <vt:lpstr>Gotham Bold</vt:lpstr>
      <vt:lpstr>Gotham Book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Roopam Ambekar</dc:creator>
  <cp:lastModifiedBy>Roopam Ambekar</cp:lastModifiedBy>
  <cp:revision>3</cp:revision>
  <dcterms:created xsi:type="dcterms:W3CDTF">2025-04-30T00:17:30Z</dcterms:created>
  <dcterms:modified xsi:type="dcterms:W3CDTF">2025-04-30T04:03:22Z</dcterms:modified>
</cp:coreProperties>
</file>